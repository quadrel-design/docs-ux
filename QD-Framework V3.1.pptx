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25"/>
  </p:notesMasterIdLst>
  <p:sldIdLst>
    <p:sldId id="260" r:id="rId2"/>
    <p:sldId id="401" r:id="rId3"/>
    <p:sldId id="366" r:id="rId4"/>
    <p:sldId id="389" r:id="rId5"/>
    <p:sldId id="397" r:id="rId6"/>
    <p:sldId id="371" r:id="rId7"/>
    <p:sldId id="372" r:id="rId8"/>
    <p:sldId id="374" r:id="rId9"/>
    <p:sldId id="367" r:id="rId10"/>
    <p:sldId id="391" r:id="rId11"/>
    <p:sldId id="390" r:id="rId12"/>
    <p:sldId id="404" r:id="rId13"/>
    <p:sldId id="402" r:id="rId14"/>
    <p:sldId id="403" r:id="rId15"/>
    <p:sldId id="398" r:id="rId16"/>
    <p:sldId id="399" r:id="rId17"/>
    <p:sldId id="388" r:id="rId18"/>
    <p:sldId id="396" r:id="rId19"/>
    <p:sldId id="395" r:id="rId20"/>
    <p:sldId id="392" r:id="rId21"/>
    <p:sldId id="393" r:id="rId22"/>
    <p:sldId id="394" r:id="rId23"/>
    <p:sldId id="400" r:id="rId24"/>
  </p:sldIdLst>
  <p:sldSz cx="25199975" cy="18000663"/>
  <p:notesSz cx="6858000" cy="9144000"/>
  <p:defaultTextStyle>
    <a:defPPr>
      <a:defRPr lang="de-DE"/>
    </a:defPPr>
    <a:lvl1pPr marL="0" algn="l" defTabSz="1900578" rtl="0" eaLnBrk="1" latinLnBrk="0" hangingPunct="1">
      <a:defRPr sz="3742" kern="1200">
        <a:solidFill>
          <a:schemeClr val="tx1"/>
        </a:solidFill>
        <a:latin typeface="+mn-lt"/>
        <a:ea typeface="+mn-ea"/>
        <a:cs typeface="+mn-cs"/>
      </a:defRPr>
    </a:lvl1pPr>
    <a:lvl2pPr marL="950289" algn="l" defTabSz="1900578" rtl="0" eaLnBrk="1" latinLnBrk="0" hangingPunct="1">
      <a:defRPr sz="3742" kern="1200">
        <a:solidFill>
          <a:schemeClr val="tx1"/>
        </a:solidFill>
        <a:latin typeface="+mn-lt"/>
        <a:ea typeface="+mn-ea"/>
        <a:cs typeface="+mn-cs"/>
      </a:defRPr>
    </a:lvl2pPr>
    <a:lvl3pPr marL="1900578" algn="l" defTabSz="1900578" rtl="0" eaLnBrk="1" latinLnBrk="0" hangingPunct="1">
      <a:defRPr sz="3742" kern="1200">
        <a:solidFill>
          <a:schemeClr val="tx1"/>
        </a:solidFill>
        <a:latin typeface="+mn-lt"/>
        <a:ea typeface="+mn-ea"/>
        <a:cs typeface="+mn-cs"/>
      </a:defRPr>
    </a:lvl3pPr>
    <a:lvl4pPr marL="2850867" algn="l" defTabSz="1900578" rtl="0" eaLnBrk="1" latinLnBrk="0" hangingPunct="1">
      <a:defRPr sz="3742" kern="1200">
        <a:solidFill>
          <a:schemeClr val="tx1"/>
        </a:solidFill>
        <a:latin typeface="+mn-lt"/>
        <a:ea typeface="+mn-ea"/>
        <a:cs typeface="+mn-cs"/>
      </a:defRPr>
    </a:lvl4pPr>
    <a:lvl5pPr marL="3801156" algn="l" defTabSz="1900578" rtl="0" eaLnBrk="1" latinLnBrk="0" hangingPunct="1">
      <a:defRPr sz="3742" kern="1200">
        <a:solidFill>
          <a:schemeClr val="tx1"/>
        </a:solidFill>
        <a:latin typeface="+mn-lt"/>
        <a:ea typeface="+mn-ea"/>
        <a:cs typeface="+mn-cs"/>
      </a:defRPr>
    </a:lvl5pPr>
    <a:lvl6pPr marL="4751445" algn="l" defTabSz="1900578" rtl="0" eaLnBrk="1" latinLnBrk="0" hangingPunct="1">
      <a:defRPr sz="3742" kern="1200">
        <a:solidFill>
          <a:schemeClr val="tx1"/>
        </a:solidFill>
        <a:latin typeface="+mn-lt"/>
        <a:ea typeface="+mn-ea"/>
        <a:cs typeface="+mn-cs"/>
      </a:defRPr>
    </a:lvl6pPr>
    <a:lvl7pPr marL="5701736" algn="l" defTabSz="1900578" rtl="0" eaLnBrk="1" latinLnBrk="0" hangingPunct="1">
      <a:defRPr sz="3742" kern="1200">
        <a:solidFill>
          <a:schemeClr val="tx1"/>
        </a:solidFill>
        <a:latin typeface="+mn-lt"/>
        <a:ea typeface="+mn-ea"/>
        <a:cs typeface="+mn-cs"/>
      </a:defRPr>
    </a:lvl7pPr>
    <a:lvl8pPr marL="6652023" algn="l" defTabSz="1900578" rtl="0" eaLnBrk="1" latinLnBrk="0" hangingPunct="1">
      <a:defRPr sz="3742" kern="1200">
        <a:solidFill>
          <a:schemeClr val="tx1"/>
        </a:solidFill>
        <a:latin typeface="+mn-lt"/>
        <a:ea typeface="+mn-ea"/>
        <a:cs typeface="+mn-cs"/>
      </a:defRPr>
    </a:lvl8pPr>
    <a:lvl9pPr marL="7602312" algn="l" defTabSz="1900578" rtl="0" eaLnBrk="1" latinLnBrk="0" hangingPunct="1">
      <a:defRPr sz="374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ristian Antonetti" initials="CA" lastIdx="1" clrIdx="0">
    <p:extLst>
      <p:ext uri="{19B8F6BF-5375-455C-9EA6-DF929625EA0E}">
        <p15:presenceInfo xmlns:p15="http://schemas.microsoft.com/office/powerpoint/2012/main" userId="Christian Antonett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E5E5"/>
    <a:srgbClr val="F5F5F5"/>
    <a:srgbClr val="FF0000"/>
    <a:srgbClr val="FF40FF"/>
    <a:srgbClr val="006699"/>
    <a:srgbClr val="EFEFEF"/>
    <a:srgbClr val="171717"/>
    <a:srgbClr val="D5D5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17" autoAdjust="0"/>
    <p:restoredTop sz="97368"/>
  </p:normalViewPr>
  <p:slideViewPr>
    <p:cSldViewPr snapToGrid="0" snapToObjects="1">
      <p:cViewPr>
        <p:scale>
          <a:sx n="31" d="100"/>
          <a:sy n="31" d="100"/>
        </p:scale>
        <p:origin x="737" y="3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70" d="100"/>
          <a:sy n="170" d="100"/>
        </p:scale>
        <p:origin x="5376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303E6E-79B7-4C45-9718-4AD565E9278E}" type="datetimeFigureOut">
              <a:rPr lang="de-DE" smtClean="0"/>
              <a:t>15.09.2025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268413" y="1143000"/>
            <a:ext cx="43211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30A0E6-0EBA-BD47-906C-FA7C72473C5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2265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049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1BEC033A-2BD2-5F4A-A78A-D6F02857FEEB}"/>
              </a:ext>
            </a:extLst>
          </p:cNvPr>
          <p:cNvSpPr/>
          <p:nvPr userDrawn="1"/>
        </p:nvSpPr>
        <p:spPr>
          <a:xfrm>
            <a:off x="0" y="1080212"/>
            <a:ext cx="19080000" cy="16920451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14C343B-F648-2647-ADB9-8F20166A094D}"/>
              </a:ext>
            </a:extLst>
          </p:cNvPr>
          <p:cNvSpPr/>
          <p:nvPr userDrawn="1"/>
        </p:nvSpPr>
        <p:spPr>
          <a:xfrm>
            <a:off x="0" y="1008212"/>
            <a:ext cx="25200000" cy="7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dirty="0"/>
          </a:p>
        </p:txBody>
      </p:sp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50CD20C1-36BA-6D40-951E-4F0166581BEF}"/>
              </a:ext>
            </a:extLst>
          </p:cNvPr>
          <p:cNvCxnSpPr>
            <a:cxnSpLocks/>
          </p:cNvCxnSpPr>
          <p:nvPr userDrawn="1"/>
        </p:nvCxnSpPr>
        <p:spPr>
          <a:xfrm>
            <a:off x="19080000" y="1080212"/>
            <a:ext cx="0" cy="1692045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 Verbindung 5">
            <a:extLst>
              <a:ext uri="{FF2B5EF4-FFF2-40B4-BE49-F238E27FC236}">
                <a16:creationId xmlns:a16="http://schemas.microsoft.com/office/drawing/2014/main" id="{95D71710-0D05-CA45-B1A4-C69EFF8049C1}"/>
              </a:ext>
            </a:extLst>
          </p:cNvPr>
          <p:cNvCxnSpPr/>
          <p:nvPr userDrawn="1"/>
        </p:nvCxnSpPr>
        <p:spPr>
          <a:xfrm>
            <a:off x="539975" y="2880000"/>
            <a:ext cx="18000000" cy="0"/>
          </a:xfrm>
          <a:prstGeom prst="line">
            <a:avLst/>
          </a:prstGeom>
          <a:ln w="50800">
            <a:solidFill>
              <a:srgbClr val="D5D5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9009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1BEC033A-2BD2-5F4A-A78A-D6F02857FEEB}"/>
              </a:ext>
            </a:extLst>
          </p:cNvPr>
          <p:cNvSpPr/>
          <p:nvPr userDrawn="1"/>
        </p:nvSpPr>
        <p:spPr>
          <a:xfrm>
            <a:off x="-1" y="1080212"/>
            <a:ext cx="25199975" cy="16920451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14C343B-F648-2647-ADB9-8F20166A094D}"/>
              </a:ext>
            </a:extLst>
          </p:cNvPr>
          <p:cNvSpPr/>
          <p:nvPr userDrawn="1"/>
        </p:nvSpPr>
        <p:spPr>
          <a:xfrm>
            <a:off x="0" y="1008212"/>
            <a:ext cx="25200000" cy="7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dirty="0"/>
          </a:p>
        </p:txBody>
      </p:sp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709DD919-6038-2746-8B54-F61D450EF6D2}"/>
              </a:ext>
            </a:extLst>
          </p:cNvPr>
          <p:cNvCxnSpPr>
            <a:cxnSpLocks/>
          </p:cNvCxnSpPr>
          <p:nvPr userDrawn="1"/>
        </p:nvCxnSpPr>
        <p:spPr>
          <a:xfrm>
            <a:off x="539975" y="2880000"/>
            <a:ext cx="24120000" cy="0"/>
          </a:xfrm>
          <a:prstGeom prst="line">
            <a:avLst/>
          </a:prstGeom>
          <a:ln w="31750">
            <a:solidFill>
              <a:srgbClr val="D5D5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9676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1BEC033A-2BD2-5F4A-A78A-D6F02857FEEB}"/>
              </a:ext>
            </a:extLst>
          </p:cNvPr>
          <p:cNvSpPr/>
          <p:nvPr userDrawn="1"/>
        </p:nvSpPr>
        <p:spPr>
          <a:xfrm>
            <a:off x="-1" y="0"/>
            <a:ext cx="25199975" cy="1800066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B335BDC-BCE2-C040-9683-6C3063BAC74B}"/>
              </a:ext>
            </a:extLst>
          </p:cNvPr>
          <p:cNvSpPr/>
          <p:nvPr userDrawn="1"/>
        </p:nvSpPr>
        <p:spPr>
          <a:xfrm>
            <a:off x="360000" y="360000"/>
            <a:ext cx="24480000" cy="17278295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1C1ABA5B-446F-E54D-AC0D-33BB80AEBB13}"/>
              </a:ext>
            </a:extLst>
          </p:cNvPr>
          <p:cNvGrpSpPr/>
          <p:nvPr userDrawn="1"/>
        </p:nvGrpSpPr>
        <p:grpSpPr>
          <a:xfrm>
            <a:off x="360000" y="360000"/>
            <a:ext cx="24480000" cy="1872000"/>
            <a:chOff x="0" y="1008212"/>
            <a:chExt cx="25200000" cy="1871788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B14C343B-F648-2647-ADB9-8F20166A094D}"/>
                </a:ext>
              </a:extLst>
            </p:cNvPr>
            <p:cNvSpPr/>
            <p:nvPr userDrawn="1"/>
          </p:nvSpPr>
          <p:spPr>
            <a:xfrm>
              <a:off x="0" y="1008212"/>
              <a:ext cx="25200000" cy="7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DE" dirty="0"/>
            </a:p>
          </p:txBody>
        </p:sp>
        <p:cxnSp>
          <p:nvCxnSpPr>
            <p:cNvPr id="5" name="Gerade Verbindung 4">
              <a:extLst>
                <a:ext uri="{FF2B5EF4-FFF2-40B4-BE49-F238E27FC236}">
                  <a16:creationId xmlns:a16="http://schemas.microsoft.com/office/drawing/2014/main" id="{709DD919-6038-2746-8B54-F61D450EF6D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39975" y="2880000"/>
              <a:ext cx="24120000" cy="0"/>
            </a:xfrm>
            <a:prstGeom prst="line">
              <a:avLst/>
            </a:prstGeom>
            <a:ln w="31750">
              <a:solidFill>
                <a:srgbClr val="D5D5D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07079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32499" y="958373"/>
            <a:ext cx="21734978" cy="34792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99" y="4791843"/>
            <a:ext cx="21734978" cy="114212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32498" y="16683952"/>
            <a:ext cx="5669994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1BD106-222F-FB4B-9D41-59B5DAF75F85}" type="datetimeFigureOut">
              <a:rPr lang="de-DE" smtClean="0"/>
              <a:t>15.09.2025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47492" y="16683952"/>
            <a:ext cx="8504992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797483" y="16683952"/>
            <a:ext cx="5669994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046DAA-424F-9245-AC03-186D8535FB4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7285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</p:sldLayoutIdLst>
  <p:txStyles>
    <p:titleStyle>
      <a:lvl1pPr algn="l" defTabSz="2400117" rtl="0" eaLnBrk="1" latinLnBrk="0" hangingPunct="1">
        <a:lnSpc>
          <a:spcPct val="90000"/>
        </a:lnSpc>
        <a:spcBef>
          <a:spcPct val="0"/>
        </a:spcBef>
        <a:buNone/>
        <a:defRPr sz="1154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0029" indent="-600029" algn="l" defTabSz="2400117" rtl="0" eaLnBrk="1" latinLnBrk="0" hangingPunct="1">
        <a:lnSpc>
          <a:spcPct val="90000"/>
        </a:lnSpc>
        <a:spcBef>
          <a:spcPts val="2625"/>
        </a:spcBef>
        <a:buFont typeface="Arial" panose="020B0604020202020204" pitchFamily="34" charset="0"/>
        <a:buChar char="•"/>
        <a:defRPr sz="7349" kern="1200">
          <a:solidFill>
            <a:schemeClr val="tx1"/>
          </a:solidFill>
          <a:latin typeface="+mn-lt"/>
          <a:ea typeface="+mn-ea"/>
          <a:cs typeface="+mn-cs"/>
        </a:defRPr>
      </a:lvl1pPr>
      <a:lvl2pPr marL="1800088" indent="-600029" algn="l" defTabSz="240011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6300" kern="1200">
          <a:solidFill>
            <a:schemeClr val="tx1"/>
          </a:solidFill>
          <a:latin typeface="+mn-lt"/>
          <a:ea typeface="+mn-ea"/>
          <a:cs typeface="+mn-cs"/>
        </a:defRPr>
      </a:lvl2pPr>
      <a:lvl3pPr marL="3000146" indent="-600029" algn="l" defTabSz="240011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5250" kern="1200">
          <a:solidFill>
            <a:schemeClr val="tx1"/>
          </a:solidFill>
          <a:latin typeface="+mn-lt"/>
          <a:ea typeface="+mn-ea"/>
          <a:cs typeface="+mn-cs"/>
        </a:defRPr>
      </a:lvl3pPr>
      <a:lvl4pPr marL="4200205" indent="-600029" algn="l" defTabSz="240011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4pPr>
      <a:lvl5pPr marL="5400264" indent="-600029" algn="l" defTabSz="240011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5pPr>
      <a:lvl6pPr marL="6600322" indent="-600029" algn="l" defTabSz="240011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6pPr>
      <a:lvl7pPr marL="7800381" indent="-600029" algn="l" defTabSz="240011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7pPr>
      <a:lvl8pPr marL="9000439" indent="-600029" algn="l" defTabSz="240011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8pPr>
      <a:lvl9pPr marL="10200498" indent="-600029" algn="l" defTabSz="240011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00117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1pPr>
      <a:lvl2pPr marL="1200059" algn="l" defTabSz="2400117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2pPr>
      <a:lvl3pPr marL="2400117" algn="l" defTabSz="2400117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3pPr>
      <a:lvl4pPr marL="3600176" algn="l" defTabSz="2400117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4pPr>
      <a:lvl5pPr marL="4800234" algn="l" defTabSz="2400117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5pPr>
      <a:lvl6pPr marL="6000293" algn="l" defTabSz="2400117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6pPr>
      <a:lvl7pPr marL="7200351" algn="l" defTabSz="2400117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7pPr>
      <a:lvl8pPr marL="8400410" algn="l" defTabSz="2400117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8pPr>
      <a:lvl9pPr marL="9600468" algn="l" defTabSz="2400117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confluence.bit.admin.ch/display/DAZUIC/Quadrel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quadrel.ezv.admin.ch/?path=/story/welcome--installation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confluence.bit.admin.ch/display/EVZMETHODIK/DaziT+UX-Architektur?preview=/268089583/268089619/DaziT%20UX%20IA%20Model%20V0.7%20Ext.pdf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quadrel.ezv.admin.ch/?path=/story/structures-filter-multiple-types--multiple-filters-with-multiple-types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ev-camiuns-internal.bazg.admin.ch/iks" TargetMode="Externa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E1203B35-A81E-2544-A59E-1EDEA9378665}"/>
              </a:ext>
            </a:extLst>
          </p:cNvPr>
          <p:cNvSpPr/>
          <p:nvPr/>
        </p:nvSpPr>
        <p:spPr>
          <a:xfrm>
            <a:off x="719998" y="6565692"/>
            <a:ext cx="23760000" cy="1143430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AF953FE-ADEE-1D44-B023-DC9ED88A1BFB}"/>
              </a:ext>
            </a:extLst>
          </p:cNvPr>
          <p:cNvSpPr/>
          <p:nvPr/>
        </p:nvSpPr>
        <p:spPr>
          <a:xfrm>
            <a:off x="1492898" y="4103649"/>
            <a:ext cx="22987100" cy="24620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>
              <a:lnSpc>
                <a:spcPts val="8000"/>
              </a:lnSpc>
            </a:pPr>
            <a:r>
              <a:rPr lang="de-DE" sz="7200" b="1" dirty="0" err="1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Quadrel</a:t>
            </a:r>
            <a:br>
              <a:rPr lang="de-DE" sz="7200" b="1" dirty="0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</a:br>
            <a:r>
              <a:rPr lang="de-DE" sz="7200" dirty="0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Low-Code Enterprise User Interface Framework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BDF00481-1E30-534F-82D2-E6E1942F1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6225" y="847570"/>
            <a:ext cx="2773773" cy="720000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68ADE017-FBF0-4F41-B231-462DFFDA63CD}"/>
              </a:ext>
            </a:extLst>
          </p:cNvPr>
          <p:cNvSpPr/>
          <p:nvPr/>
        </p:nvSpPr>
        <p:spPr>
          <a:xfrm>
            <a:off x="1492898" y="7301476"/>
            <a:ext cx="13380099" cy="72993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>
              <a:lnSpc>
                <a:spcPts val="6000"/>
              </a:lnSpc>
            </a:pPr>
            <a:r>
              <a:rPr lang="de-DE" sz="6000" b="1" spc="-150" dirty="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Christian Antonetti</a:t>
            </a:r>
          </a:p>
          <a:p>
            <a:pPr>
              <a:lnSpc>
                <a:spcPts val="6000"/>
              </a:lnSpc>
            </a:pPr>
            <a:r>
              <a:rPr lang="de-DE" sz="6000" b="1" spc="-150" dirty="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Carsten Tornow</a:t>
            </a:r>
          </a:p>
          <a:p>
            <a:pPr>
              <a:lnSpc>
                <a:spcPts val="6000"/>
              </a:lnSpc>
            </a:pPr>
            <a:r>
              <a:rPr lang="de-DE" sz="6000" b="1" spc="-150" dirty="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Philipp Escher</a:t>
            </a:r>
          </a:p>
          <a:p>
            <a:pPr>
              <a:lnSpc>
                <a:spcPts val="6000"/>
              </a:lnSpc>
            </a:pPr>
            <a:r>
              <a:rPr lang="de-DE" sz="6000" b="1" spc="-150" dirty="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Sami Nowak</a:t>
            </a:r>
            <a:br>
              <a:rPr lang="de-DE" sz="6000" b="1" spc="-150" dirty="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</a:br>
            <a:r>
              <a:rPr lang="de-DE" sz="6000" b="1" spc="-150" dirty="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David Schneller</a:t>
            </a:r>
          </a:p>
          <a:p>
            <a:pPr>
              <a:lnSpc>
                <a:spcPts val="6000"/>
              </a:lnSpc>
            </a:pPr>
            <a:r>
              <a:rPr lang="de-DE" sz="6000" b="1" spc="-150" dirty="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Alexander Brandt</a:t>
            </a:r>
            <a:br>
              <a:rPr lang="de-DE" sz="6000" b="1" spc="-150" dirty="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</a:br>
            <a:r>
              <a:rPr lang="de-DE" sz="6000" b="1" spc="-150" dirty="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Emre Öztürk</a:t>
            </a:r>
          </a:p>
          <a:p>
            <a:pPr>
              <a:lnSpc>
                <a:spcPts val="6000"/>
              </a:lnSpc>
            </a:pPr>
            <a:endParaRPr lang="de-DE" sz="6000" b="1" spc="-150" dirty="0">
              <a:solidFill>
                <a:schemeClr val="bg1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>
              <a:lnSpc>
                <a:spcPts val="6000"/>
              </a:lnSpc>
            </a:pPr>
            <a:r>
              <a:rPr lang="de-DE" sz="6000" b="1" spc="-150" dirty="0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15.09.2025</a:t>
            </a:r>
          </a:p>
          <a:p>
            <a:pPr>
              <a:lnSpc>
                <a:spcPts val="8000"/>
              </a:lnSpc>
            </a:pPr>
            <a:endParaRPr lang="de-DE" sz="8000" b="1" dirty="0">
              <a:solidFill>
                <a:schemeClr val="bg1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>
              <a:lnSpc>
                <a:spcPts val="10700"/>
              </a:lnSpc>
            </a:pPr>
            <a:endParaRPr lang="de-DE" sz="11000" dirty="0">
              <a:solidFill>
                <a:srgbClr val="171717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A899658F-8C9A-9945-886E-4ADE0B555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898" y="847570"/>
            <a:ext cx="900000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27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hteck 51">
            <a:extLst>
              <a:ext uri="{FF2B5EF4-FFF2-40B4-BE49-F238E27FC236}">
                <a16:creationId xmlns:a16="http://schemas.microsoft.com/office/drawing/2014/main" id="{AC1290E8-DA2E-544D-AAD4-F6A532E11114}"/>
              </a:ext>
            </a:extLst>
          </p:cNvPr>
          <p:cNvSpPr/>
          <p:nvPr/>
        </p:nvSpPr>
        <p:spPr>
          <a:xfrm>
            <a:off x="19547367" y="5283685"/>
            <a:ext cx="4320000" cy="89662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36000" bIns="0" rtlCol="0" anchor="ctr"/>
          <a:lstStyle/>
          <a:p>
            <a:endParaRPr lang="de-DE" sz="2400" b="1" dirty="0">
              <a:solidFill>
                <a:srgbClr val="171717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DA5A5A36-25B8-A041-AC54-53E75080FCED}"/>
              </a:ext>
            </a:extLst>
          </p:cNvPr>
          <p:cNvSpPr/>
          <p:nvPr/>
        </p:nvSpPr>
        <p:spPr>
          <a:xfrm>
            <a:off x="6343159" y="5296923"/>
            <a:ext cx="12600000" cy="895302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51999" rIns="36000" bIns="0" rtlCol="0" anchor="t"/>
          <a:lstStyle/>
          <a:p>
            <a:r>
              <a:rPr lang="de-DE" sz="2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Quadrel</a:t>
            </a:r>
            <a:r>
              <a:rPr lang="de-DE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User Interface Library</a:t>
            </a:r>
            <a:endParaRPr lang="de-DE" sz="2400" b="1" dirty="0">
              <a:solidFill>
                <a:schemeClr val="bg1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08A4ECE3-0002-8149-91A3-2435591E3213}"/>
              </a:ext>
            </a:extLst>
          </p:cNvPr>
          <p:cNvSpPr/>
          <p:nvPr/>
        </p:nvSpPr>
        <p:spPr>
          <a:xfrm>
            <a:off x="6703200" y="6220595"/>
            <a:ext cx="11880000" cy="684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51999" rIns="36000" bIns="0" rtlCol="0" anchor="t"/>
          <a:lstStyle/>
          <a:p>
            <a:r>
              <a:rPr lang="de-DE" sz="2400" b="1" dirty="0">
                <a:solidFill>
                  <a:srgbClr val="17171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Shell</a:t>
            </a:r>
            <a:endParaRPr lang="de-DE" sz="2400" b="1" dirty="0">
              <a:solidFill>
                <a:srgbClr val="171717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3E5B46CD-DD71-6648-A4A4-FB161D3FCC58}"/>
              </a:ext>
            </a:extLst>
          </p:cNvPr>
          <p:cNvSpPr/>
          <p:nvPr/>
        </p:nvSpPr>
        <p:spPr>
          <a:xfrm>
            <a:off x="8863200" y="7300595"/>
            <a:ext cx="9720000" cy="57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51999" rIns="36000" bIns="0" rtlCol="0" anchor="t"/>
          <a:lstStyle/>
          <a:p>
            <a:r>
              <a:rPr lang="de-DE" sz="2400" b="1" dirty="0">
                <a:solidFill>
                  <a:srgbClr val="17171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</a:t>
            </a:r>
            <a:endParaRPr lang="de-DE" sz="2400" b="1" dirty="0">
              <a:solidFill>
                <a:srgbClr val="171717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A0ABFA66-FF20-0546-A83E-3B04FB1357A2}"/>
              </a:ext>
            </a:extLst>
          </p:cNvPr>
          <p:cNvSpPr/>
          <p:nvPr/>
        </p:nvSpPr>
        <p:spPr>
          <a:xfrm>
            <a:off x="1400451" y="16269829"/>
            <a:ext cx="22466915" cy="8481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36000" bIns="0" rtlCol="0" anchor="ctr"/>
          <a:lstStyle/>
          <a:p>
            <a:r>
              <a:rPr lang="de-DE" sz="2400" b="1" dirty="0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Project </a:t>
            </a:r>
            <a:r>
              <a:rPr lang="de-DE" sz="2400" b="1" dirty="0" err="1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Requirements</a:t>
            </a:r>
            <a:endParaRPr lang="de-DE" sz="2400" b="1" dirty="0">
              <a:solidFill>
                <a:srgbClr val="171717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93786B39-B9A2-8845-85F1-06B50A4CF27C}"/>
              </a:ext>
            </a:extLst>
          </p:cNvPr>
          <p:cNvSpPr/>
          <p:nvPr/>
        </p:nvSpPr>
        <p:spPr>
          <a:xfrm>
            <a:off x="1400451" y="14879359"/>
            <a:ext cx="22466915" cy="8481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36000" bIns="0" rtlCol="0" anchor="ctr"/>
          <a:lstStyle/>
          <a:p>
            <a:r>
              <a:rPr lang="de-DE" sz="2400" b="1" dirty="0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UX </a:t>
            </a:r>
            <a:r>
              <a:rPr lang="de-DE" sz="2400" b="1" dirty="0" err="1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Architecture</a:t>
            </a:r>
            <a:endParaRPr lang="de-DE" sz="2400" b="1" dirty="0">
              <a:solidFill>
                <a:srgbClr val="171717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4D8890C1-5B12-E446-92E7-098B7D321F30}"/>
              </a:ext>
            </a:extLst>
          </p:cNvPr>
          <p:cNvSpPr/>
          <p:nvPr/>
        </p:nvSpPr>
        <p:spPr>
          <a:xfrm>
            <a:off x="19907367" y="5626687"/>
            <a:ext cx="3600000" cy="199438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88000" rIns="36000" bIns="0" rtlCol="0" anchor="t"/>
          <a:lstStyle/>
          <a:p>
            <a:pPr>
              <a:lnSpc>
                <a:spcPts val="3000"/>
              </a:lnSpc>
            </a:pPr>
            <a:r>
              <a:rPr lang="de-DE" sz="2400" b="1" dirty="0" err="1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Quadrel</a:t>
            </a:r>
            <a:r>
              <a:rPr lang="de-DE" sz="2400" b="1" dirty="0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Services</a:t>
            </a:r>
          </a:p>
          <a:p>
            <a:pPr>
              <a:lnSpc>
                <a:spcPts val="3000"/>
              </a:lnSpc>
            </a:pPr>
            <a:r>
              <a:rPr lang="de-DE" sz="2400" dirty="0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Browser Check</a:t>
            </a:r>
          </a:p>
          <a:p>
            <a:pPr>
              <a:lnSpc>
                <a:spcPts val="3000"/>
              </a:lnSpc>
            </a:pPr>
            <a:r>
              <a:rPr lang="de-DE" sz="2400" dirty="0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Page </a:t>
            </a:r>
            <a:r>
              <a:rPr lang="de-DE" sz="2400" dirty="0" err="1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Leave</a:t>
            </a:r>
            <a:r>
              <a:rPr lang="de-DE" sz="2400" dirty="0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Event</a:t>
            </a:r>
          </a:p>
          <a:p>
            <a:pPr>
              <a:lnSpc>
                <a:spcPts val="3000"/>
              </a:lnSpc>
            </a:pPr>
            <a:r>
              <a:rPr lang="de-DE" sz="2400" dirty="0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168B6A8F-F881-674E-8D06-CD0DDF659408}"/>
              </a:ext>
            </a:extLst>
          </p:cNvPr>
          <p:cNvSpPr/>
          <p:nvPr/>
        </p:nvSpPr>
        <p:spPr>
          <a:xfrm>
            <a:off x="6343158" y="2360517"/>
            <a:ext cx="17524208" cy="8481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36000" bIns="0" rtlCol="0" anchor="ctr"/>
          <a:lstStyle/>
          <a:p>
            <a:r>
              <a:rPr lang="de-DE" sz="2400" b="1" dirty="0" err="1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Quadrel</a:t>
            </a:r>
            <a:r>
              <a:rPr lang="de-DE" sz="2400" b="1" dirty="0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Backend Integration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5B794DB-08DA-3C41-9A0E-302D926E7CFD}"/>
              </a:ext>
            </a:extLst>
          </p:cNvPr>
          <p:cNvSpPr/>
          <p:nvPr/>
        </p:nvSpPr>
        <p:spPr>
          <a:xfrm>
            <a:off x="11023200" y="8380595"/>
            <a:ext cx="7560000" cy="468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51999" rIns="36000" bIns="0" rtlCol="0" anchor="t"/>
          <a:lstStyle/>
          <a:p>
            <a:r>
              <a:rPr lang="de-DE" sz="2400" b="1" dirty="0" err="1">
                <a:solidFill>
                  <a:srgbClr val="17171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Structures</a:t>
            </a:r>
            <a:endParaRPr lang="de-DE" sz="2400" dirty="0">
              <a:solidFill>
                <a:srgbClr val="171717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4369D17-CA90-524B-A373-4B20956751EF}"/>
              </a:ext>
            </a:extLst>
          </p:cNvPr>
          <p:cNvSpPr/>
          <p:nvPr/>
        </p:nvSpPr>
        <p:spPr>
          <a:xfrm>
            <a:off x="13183200" y="9460595"/>
            <a:ext cx="5400000" cy="360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51999" rIns="36000" bIns="0" rtlCol="0" anchor="t"/>
          <a:lstStyle/>
          <a:p>
            <a:r>
              <a:rPr lang="de-DE" sz="2400" b="1" dirty="0">
                <a:solidFill>
                  <a:srgbClr val="17171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Patterns</a:t>
            </a:r>
            <a:br>
              <a:rPr lang="de-DE" sz="2400" b="1" dirty="0">
                <a:solidFill>
                  <a:srgbClr val="171717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de-DE" sz="2400" dirty="0">
              <a:solidFill>
                <a:srgbClr val="171717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BBB34709-3F03-964C-99C6-DE842BCE3727}"/>
              </a:ext>
            </a:extLst>
          </p:cNvPr>
          <p:cNvSpPr/>
          <p:nvPr/>
        </p:nvSpPr>
        <p:spPr>
          <a:xfrm>
            <a:off x="15343200" y="10540595"/>
            <a:ext cx="3240000" cy="252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51999" rIns="36000" bIns="0" rtlCol="0" anchor="t"/>
          <a:lstStyle/>
          <a:p>
            <a:r>
              <a:rPr lang="de-DE" sz="2400" b="1" dirty="0">
                <a:solidFill>
                  <a:srgbClr val="17171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Components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F2479BBD-5FB5-6C47-ADA1-4313133E147D}"/>
              </a:ext>
            </a:extLst>
          </p:cNvPr>
          <p:cNvSpPr/>
          <p:nvPr/>
        </p:nvSpPr>
        <p:spPr>
          <a:xfrm>
            <a:off x="6703200" y="13050078"/>
            <a:ext cx="11880000" cy="84814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36000" bIns="0" rtlCol="0" anchor="ctr"/>
          <a:lstStyle/>
          <a:p>
            <a:r>
              <a:rPr lang="de-DE" sz="2400" b="1" dirty="0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Styling Framework 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2A808645-2FFB-6D4A-AA55-7CE25E11C667}"/>
              </a:ext>
            </a:extLst>
          </p:cNvPr>
          <p:cNvSpPr/>
          <p:nvPr/>
        </p:nvSpPr>
        <p:spPr>
          <a:xfrm>
            <a:off x="19907367" y="12072769"/>
            <a:ext cx="3600000" cy="84814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36000" bIns="0" rtlCol="0" anchor="ctr"/>
          <a:lstStyle/>
          <a:p>
            <a:r>
              <a:rPr lang="de-DE" sz="2400" b="1" dirty="0" err="1">
                <a:solidFill>
                  <a:srgbClr val="17171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Quadrel</a:t>
            </a:r>
            <a:r>
              <a:rPr lang="de-DE" sz="2400" b="1" dirty="0">
                <a:solidFill>
                  <a:srgbClr val="17171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AX</a:t>
            </a:r>
            <a:endParaRPr lang="de-DE" sz="2400" b="1" dirty="0">
              <a:solidFill>
                <a:srgbClr val="171717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31C9AEDF-900C-794D-92E4-3C1C057C84AF}"/>
              </a:ext>
            </a:extLst>
          </p:cNvPr>
          <p:cNvSpPr/>
          <p:nvPr/>
        </p:nvSpPr>
        <p:spPr>
          <a:xfrm>
            <a:off x="19907367" y="11034369"/>
            <a:ext cx="3600000" cy="84814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36000" bIns="0" rtlCol="0" anchor="ctr"/>
          <a:lstStyle/>
          <a:p>
            <a:r>
              <a:rPr lang="de-DE" sz="2400" b="1" dirty="0" err="1">
                <a:solidFill>
                  <a:srgbClr val="17171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Quadrel</a:t>
            </a:r>
            <a:r>
              <a:rPr lang="de-DE" sz="2400" b="1" dirty="0">
                <a:solidFill>
                  <a:srgbClr val="17171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Language</a:t>
            </a:r>
            <a:endParaRPr lang="de-DE" sz="2400" b="1" dirty="0">
              <a:solidFill>
                <a:srgbClr val="171717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940BAF39-F38B-434B-BAF8-47217579FD88}"/>
              </a:ext>
            </a:extLst>
          </p:cNvPr>
          <p:cNvSpPr/>
          <p:nvPr/>
        </p:nvSpPr>
        <p:spPr>
          <a:xfrm>
            <a:off x="19907367" y="9995969"/>
            <a:ext cx="3600000" cy="84814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36000" bIns="0" rtlCol="0" anchor="ctr"/>
          <a:lstStyle/>
          <a:p>
            <a:r>
              <a:rPr lang="de-DE" sz="2400" b="1" dirty="0" err="1">
                <a:solidFill>
                  <a:srgbClr val="17171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Quadrel</a:t>
            </a:r>
            <a:r>
              <a:rPr lang="de-DE" sz="2400" b="1" dirty="0">
                <a:solidFill>
                  <a:srgbClr val="17171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b="1" dirty="0" err="1">
                <a:solidFill>
                  <a:srgbClr val="17171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OAuth</a:t>
            </a:r>
            <a:endParaRPr lang="de-DE" sz="2400" b="1" dirty="0">
              <a:solidFill>
                <a:srgbClr val="171717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13645A59-2A97-7741-A712-E9B6404E853C}"/>
              </a:ext>
            </a:extLst>
          </p:cNvPr>
          <p:cNvSpPr/>
          <p:nvPr/>
        </p:nvSpPr>
        <p:spPr>
          <a:xfrm>
            <a:off x="6343159" y="3822101"/>
            <a:ext cx="17524207" cy="8481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36000" bIns="0" rtlCol="0" anchor="ctr"/>
          <a:lstStyle/>
          <a:p>
            <a:r>
              <a:rPr lang="de-DE" sz="2400" b="1" dirty="0" err="1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Quadrel</a:t>
            </a:r>
            <a:r>
              <a:rPr lang="de-DE" sz="2400" b="1" dirty="0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lang="de-DE" sz="2400" b="1" dirty="0" err="1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Sandbox</a:t>
            </a:r>
            <a:endParaRPr lang="de-DE" sz="2400" b="1" dirty="0">
              <a:solidFill>
                <a:srgbClr val="171717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6ACB85B0-1E7D-5B4B-AD8F-7B0E521D2468}"/>
              </a:ext>
            </a:extLst>
          </p:cNvPr>
          <p:cNvSpPr/>
          <p:nvPr/>
        </p:nvSpPr>
        <p:spPr>
          <a:xfrm>
            <a:off x="19907367" y="7811328"/>
            <a:ext cx="3600000" cy="199438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88000" rIns="36000" bIns="0" rtlCol="0" anchor="t"/>
          <a:lstStyle/>
          <a:p>
            <a:pPr>
              <a:lnSpc>
                <a:spcPts val="3000"/>
              </a:lnSpc>
            </a:pPr>
            <a:r>
              <a:rPr lang="de-DE" sz="2400" b="1" dirty="0" err="1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Quadrel</a:t>
            </a:r>
            <a:r>
              <a:rPr lang="de-DE" sz="2400" b="1" dirty="0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Tools</a:t>
            </a:r>
          </a:p>
          <a:p>
            <a:pPr>
              <a:lnSpc>
                <a:spcPts val="3000"/>
              </a:lnSpc>
            </a:pPr>
            <a:r>
              <a:rPr lang="de-DE" sz="2400" dirty="0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Installer</a:t>
            </a:r>
          </a:p>
          <a:p>
            <a:pPr>
              <a:lnSpc>
                <a:spcPts val="3000"/>
              </a:lnSpc>
            </a:pPr>
            <a:r>
              <a:rPr lang="de-DE" sz="2400" dirty="0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Page </a:t>
            </a:r>
            <a:r>
              <a:rPr lang="de-DE" sz="2400" dirty="0" err="1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Builder</a:t>
            </a:r>
            <a:endParaRPr lang="de-DE" sz="2400" dirty="0">
              <a:solidFill>
                <a:srgbClr val="171717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>
              <a:lnSpc>
                <a:spcPts val="3000"/>
              </a:lnSpc>
            </a:pPr>
            <a:r>
              <a:rPr lang="de-DE" sz="2400" dirty="0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68F0DC04-5695-8B46-8047-AEA581F062F5}"/>
              </a:ext>
            </a:extLst>
          </p:cNvPr>
          <p:cNvSpPr/>
          <p:nvPr/>
        </p:nvSpPr>
        <p:spPr>
          <a:xfrm>
            <a:off x="19907367" y="13111169"/>
            <a:ext cx="3600000" cy="84814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36000" bIns="0" rtlCol="0" anchor="ctr"/>
          <a:lstStyle/>
          <a:p>
            <a:r>
              <a:rPr lang="de-DE" sz="2400" b="1" dirty="0" err="1">
                <a:solidFill>
                  <a:srgbClr val="17171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Quadrel</a:t>
            </a:r>
            <a:r>
              <a:rPr lang="de-DE" sz="2400" b="1" dirty="0">
                <a:solidFill>
                  <a:srgbClr val="17171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b="1" dirty="0" err="1">
                <a:solidFill>
                  <a:srgbClr val="17171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Docs</a:t>
            </a:r>
            <a:endParaRPr lang="de-DE" sz="2400" b="1" dirty="0">
              <a:solidFill>
                <a:srgbClr val="171717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378C38FF-6755-2E46-8A5F-4109AF62AB2A}"/>
              </a:ext>
            </a:extLst>
          </p:cNvPr>
          <p:cNvSpPr/>
          <p:nvPr/>
        </p:nvSpPr>
        <p:spPr>
          <a:xfrm>
            <a:off x="1400451" y="5283685"/>
            <a:ext cx="4320000" cy="89662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36000" bIns="0" rtlCol="0" anchor="ctr"/>
          <a:lstStyle/>
          <a:p>
            <a:endParaRPr lang="de-DE" sz="2400" b="1" dirty="0">
              <a:solidFill>
                <a:srgbClr val="171717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31A3C92A-AD39-0047-A177-BCF0F39369FD}"/>
              </a:ext>
            </a:extLst>
          </p:cNvPr>
          <p:cNvSpPr/>
          <p:nvPr/>
        </p:nvSpPr>
        <p:spPr>
          <a:xfrm>
            <a:off x="1760244" y="5658223"/>
            <a:ext cx="3600000" cy="84814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0" bIns="0" rtlCol="0" anchor="ctr"/>
          <a:lstStyle/>
          <a:p>
            <a:r>
              <a:rPr lang="de-DE" sz="2400" b="1" dirty="0">
                <a:solidFill>
                  <a:srgbClr val="17171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QD </a:t>
            </a:r>
            <a:r>
              <a:rPr lang="de-DE" sz="2400" b="1" dirty="0" err="1">
                <a:solidFill>
                  <a:srgbClr val="17171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Figma</a:t>
            </a:r>
            <a:r>
              <a:rPr lang="de-DE" sz="2400" b="1" dirty="0">
                <a:solidFill>
                  <a:srgbClr val="17171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UI Kit</a:t>
            </a:r>
            <a:endParaRPr lang="de-DE" sz="2400" b="1" dirty="0">
              <a:solidFill>
                <a:srgbClr val="171717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cxnSp>
        <p:nvCxnSpPr>
          <p:cNvPr id="39" name="Gerade Verbindung 38">
            <a:extLst>
              <a:ext uri="{FF2B5EF4-FFF2-40B4-BE49-F238E27FC236}">
                <a16:creationId xmlns:a16="http://schemas.microsoft.com/office/drawing/2014/main" id="{280A6560-4221-384D-9AF5-72F471055305}"/>
              </a:ext>
            </a:extLst>
          </p:cNvPr>
          <p:cNvCxnSpPr>
            <a:cxnSpLocks/>
            <a:stCxn id="51" idx="2"/>
            <a:endCxn id="13" idx="0"/>
          </p:cNvCxnSpPr>
          <p:nvPr/>
        </p:nvCxnSpPr>
        <p:spPr>
          <a:xfrm flipH="1">
            <a:off x="12633909" y="14249943"/>
            <a:ext cx="9250" cy="629416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Gerade Verbindung 53">
            <a:extLst>
              <a:ext uri="{FF2B5EF4-FFF2-40B4-BE49-F238E27FC236}">
                <a16:creationId xmlns:a16="http://schemas.microsoft.com/office/drawing/2014/main" id="{A3C12ECC-8B48-6D48-8FBA-3B405C501984}"/>
              </a:ext>
            </a:extLst>
          </p:cNvPr>
          <p:cNvCxnSpPr>
            <a:cxnSpLocks/>
            <a:stCxn id="51" idx="3"/>
            <a:endCxn id="52" idx="1"/>
          </p:cNvCxnSpPr>
          <p:nvPr/>
        </p:nvCxnSpPr>
        <p:spPr>
          <a:xfrm flipV="1">
            <a:off x="18943159" y="9766814"/>
            <a:ext cx="604208" cy="661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56">
            <a:extLst>
              <a:ext uri="{FF2B5EF4-FFF2-40B4-BE49-F238E27FC236}">
                <a16:creationId xmlns:a16="http://schemas.microsoft.com/office/drawing/2014/main" id="{50389E89-F574-E344-8628-6233329C03DA}"/>
              </a:ext>
            </a:extLst>
          </p:cNvPr>
          <p:cNvCxnSpPr>
            <a:cxnSpLocks/>
            <a:stCxn id="53" idx="3"/>
            <a:endCxn id="51" idx="1"/>
          </p:cNvCxnSpPr>
          <p:nvPr/>
        </p:nvCxnSpPr>
        <p:spPr>
          <a:xfrm>
            <a:off x="5720451" y="9766814"/>
            <a:ext cx="622708" cy="6619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59">
            <a:extLst>
              <a:ext uri="{FF2B5EF4-FFF2-40B4-BE49-F238E27FC236}">
                <a16:creationId xmlns:a16="http://schemas.microsoft.com/office/drawing/2014/main" id="{CD82E1EA-78D5-C746-83B0-885B055B7D0B}"/>
              </a:ext>
            </a:extLst>
          </p:cNvPr>
          <p:cNvCxnSpPr>
            <a:cxnSpLocks/>
            <a:stCxn id="13" idx="2"/>
            <a:endCxn id="12" idx="0"/>
          </p:cNvCxnSpPr>
          <p:nvPr/>
        </p:nvCxnSpPr>
        <p:spPr>
          <a:xfrm>
            <a:off x="12633909" y="15727501"/>
            <a:ext cx="0" cy="542328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Gerade Verbindung 62">
            <a:extLst>
              <a:ext uri="{FF2B5EF4-FFF2-40B4-BE49-F238E27FC236}">
                <a16:creationId xmlns:a16="http://schemas.microsoft.com/office/drawing/2014/main" id="{1AAD23AE-7041-B245-BAE6-F335B835CA58}"/>
              </a:ext>
            </a:extLst>
          </p:cNvPr>
          <p:cNvCxnSpPr>
            <a:cxnSpLocks/>
            <a:endCxn id="51" idx="0"/>
          </p:cNvCxnSpPr>
          <p:nvPr/>
        </p:nvCxnSpPr>
        <p:spPr>
          <a:xfrm>
            <a:off x="12643159" y="4670243"/>
            <a:ext cx="0" cy="62668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Gerade Verbindung 65">
            <a:extLst>
              <a:ext uri="{FF2B5EF4-FFF2-40B4-BE49-F238E27FC236}">
                <a16:creationId xmlns:a16="http://schemas.microsoft.com/office/drawing/2014/main" id="{6E5CC738-9C7E-0440-887F-A003D7EB54FB}"/>
              </a:ext>
            </a:extLst>
          </p:cNvPr>
          <p:cNvCxnSpPr>
            <a:cxnSpLocks/>
          </p:cNvCxnSpPr>
          <p:nvPr/>
        </p:nvCxnSpPr>
        <p:spPr>
          <a:xfrm>
            <a:off x="12643159" y="3208659"/>
            <a:ext cx="0" cy="626680"/>
          </a:xfrm>
          <a:prstGeom prst="line">
            <a:avLst/>
          </a:prstGeom>
          <a:ln w="63500">
            <a:solidFill>
              <a:schemeClr val="tx1"/>
            </a:solidFill>
            <a:headEnd type="none"/>
            <a:tailEnd type="non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Grafik 66">
            <a:extLst>
              <a:ext uri="{FF2B5EF4-FFF2-40B4-BE49-F238E27FC236}">
                <a16:creationId xmlns:a16="http://schemas.microsoft.com/office/drawing/2014/main" id="{DDC8C7DC-452C-BB4C-BC59-1D961BDB6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5528" y="750404"/>
            <a:ext cx="2205919" cy="572600"/>
          </a:xfrm>
          <a:prstGeom prst="rect">
            <a:avLst/>
          </a:prstGeom>
        </p:spPr>
      </p:pic>
      <p:cxnSp>
        <p:nvCxnSpPr>
          <p:cNvPr id="68" name="Gerade Verbindung 67">
            <a:extLst>
              <a:ext uri="{FF2B5EF4-FFF2-40B4-BE49-F238E27FC236}">
                <a16:creationId xmlns:a16="http://schemas.microsoft.com/office/drawing/2014/main" id="{6FAC68E8-0A9B-B543-9C2B-30A6ECF8EF2D}"/>
              </a:ext>
            </a:extLst>
          </p:cNvPr>
          <p:cNvCxnSpPr>
            <a:cxnSpLocks/>
          </p:cNvCxnSpPr>
          <p:nvPr/>
        </p:nvCxnSpPr>
        <p:spPr>
          <a:xfrm>
            <a:off x="21635528" y="4670243"/>
            <a:ext cx="0" cy="62668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Gerade Verbindung 68">
            <a:extLst>
              <a:ext uri="{FF2B5EF4-FFF2-40B4-BE49-F238E27FC236}">
                <a16:creationId xmlns:a16="http://schemas.microsoft.com/office/drawing/2014/main" id="{243DC180-A2CB-A44A-AAA3-CE62B16544A7}"/>
              </a:ext>
            </a:extLst>
          </p:cNvPr>
          <p:cNvCxnSpPr>
            <a:cxnSpLocks/>
            <a:endCxn id="53" idx="2"/>
          </p:cNvCxnSpPr>
          <p:nvPr/>
        </p:nvCxnSpPr>
        <p:spPr>
          <a:xfrm flipV="1">
            <a:off x="3560244" y="14249943"/>
            <a:ext cx="207" cy="629416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hteck 33">
            <a:extLst>
              <a:ext uri="{FF2B5EF4-FFF2-40B4-BE49-F238E27FC236}">
                <a16:creationId xmlns:a16="http://schemas.microsoft.com/office/drawing/2014/main" id="{8628DE50-3430-4447-BDDF-136476CE1407}"/>
              </a:ext>
            </a:extLst>
          </p:cNvPr>
          <p:cNvSpPr/>
          <p:nvPr/>
        </p:nvSpPr>
        <p:spPr>
          <a:xfrm>
            <a:off x="1203158" y="553551"/>
            <a:ext cx="9920998" cy="7989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t"/>
          <a:lstStyle/>
          <a:p>
            <a:r>
              <a:rPr lang="de-DE" sz="3600" b="1" dirty="0">
                <a:solidFill>
                  <a:srgbClr val="17171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QUADREL | OVERVIEW</a:t>
            </a:r>
            <a:endParaRPr lang="de-DE" sz="3600" dirty="0">
              <a:solidFill>
                <a:srgbClr val="171717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" name="AutoShape 2" descr="Bild"/>
          <p:cNvSpPr>
            <a:spLocks noChangeAspect="1" noChangeArrowheads="1"/>
          </p:cNvSpPr>
          <p:nvPr/>
        </p:nvSpPr>
        <p:spPr bwMode="auto">
          <a:xfrm>
            <a:off x="155574" y="-144463"/>
            <a:ext cx="4343273" cy="4343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14713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E1203B35-A81E-2544-A59E-1EDEA9378665}"/>
              </a:ext>
            </a:extLst>
          </p:cNvPr>
          <p:cNvSpPr/>
          <p:nvPr/>
        </p:nvSpPr>
        <p:spPr>
          <a:xfrm>
            <a:off x="719998" y="720331"/>
            <a:ext cx="23760000" cy="165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8ADE017-FBF0-4F41-B231-462DFFDA63CD}"/>
              </a:ext>
            </a:extLst>
          </p:cNvPr>
          <p:cNvSpPr/>
          <p:nvPr/>
        </p:nvSpPr>
        <p:spPr>
          <a:xfrm>
            <a:off x="719998" y="720331"/>
            <a:ext cx="23760000" cy="165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0" tIns="612000" rIns="1080000" bIns="1080000" rtlCol="0" anchor="t"/>
          <a:lstStyle/>
          <a:p>
            <a:pPr>
              <a:lnSpc>
                <a:spcPts val="10000"/>
              </a:lnSpc>
            </a:pPr>
            <a:r>
              <a:rPr lang="de-DE" sz="8400" b="1" spc="-150" dirty="0" err="1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Quadrel</a:t>
            </a:r>
            <a:r>
              <a:rPr lang="de-DE" sz="8400" b="1" spc="-15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Produkt Familie</a:t>
            </a:r>
          </a:p>
        </p:txBody>
      </p:sp>
      <p:sp>
        <p:nvSpPr>
          <p:cNvPr id="7" name="Rechteck 3">
            <a:extLst>
              <a:ext uri="{FF2B5EF4-FFF2-40B4-BE49-F238E27FC236}">
                <a16:creationId xmlns:a16="http://schemas.microsoft.com/office/drawing/2014/main" id="{E1203B35-A81E-2544-A59E-1EDEA9378665}"/>
              </a:ext>
            </a:extLst>
          </p:cNvPr>
          <p:cNvSpPr/>
          <p:nvPr/>
        </p:nvSpPr>
        <p:spPr>
          <a:xfrm>
            <a:off x="720000" y="3780000"/>
            <a:ext cx="23760000" cy="136803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0" tIns="0" rIns="108000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de-DE" sz="5400" spc="-150" dirty="0" err="1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Quadrel</a:t>
            </a:r>
            <a:r>
              <a:rPr lang="de-DE" sz="5400" spc="-15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ist ein integriertes Low-Code Enterprise User Interface Framework.</a:t>
            </a:r>
          </a:p>
          <a:p>
            <a:br>
              <a:rPr lang="de-DE" sz="5400" spc="-15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</a:br>
            <a:r>
              <a:rPr lang="de-DE" sz="5400" spc="-15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Aktuelle Produkt-Familie</a:t>
            </a:r>
          </a:p>
          <a:p>
            <a:pPr marL="685800" indent="-685800">
              <a:buFontTx/>
              <a:buChar char="-"/>
            </a:pPr>
            <a:r>
              <a:rPr lang="de-DE" sz="5400" b="1" spc="-150" dirty="0" err="1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Quadrel</a:t>
            </a:r>
            <a:r>
              <a:rPr lang="de-DE" sz="5400" b="1" spc="-15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-UI (Angular Design Library)</a:t>
            </a:r>
          </a:p>
          <a:p>
            <a:pPr marL="685800" indent="-685800">
              <a:buFontTx/>
              <a:buChar char="-"/>
            </a:pPr>
            <a:r>
              <a:rPr lang="de-DE" sz="5400" spc="-150" dirty="0" err="1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Quadrel</a:t>
            </a:r>
            <a:r>
              <a:rPr lang="de-DE" sz="5400" spc="-15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-Language (Mehrsprachigkeit)</a:t>
            </a:r>
          </a:p>
          <a:p>
            <a:pPr marL="685800" indent="-685800">
              <a:buFontTx/>
              <a:buChar char="-"/>
            </a:pPr>
            <a:r>
              <a:rPr lang="de-DE" sz="5400" spc="-150" dirty="0" err="1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Quadrel-Auth</a:t>
            </a:r>
            <a:r>
              <a:rPr lang="de-DE" sz="5400" spc="-15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(Authentifizierung / Autorisierung)</a:t>
            </a:r>
          </a:p>
          <a:p>
            <a:pPr marL="685800" indent="-685800">
              <a:buFontTx/>
              <a:buChar char="-"/>
            </a:pPr>
            <a:r>
              <a:rPr lang="de-DE" sz="5400" spc="-150" dirty="0" err="1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Quadrel-Sandbox</a:t>
            </a:r>
            <a:r>
              <a:rPr lang="de-DE" sz="5400" spc="-15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(Testumgebung)</a:t>
            </a:r>
          </a:p>
          <a:p>
            <a:pPr marL="685800" indent="-685800">
              <a:buFontTx/>
              <a:buChar char="-"/>
            </a:pPr>
            <a:r>
              <a:rPr lang="de-DE" sz="5400" spc="-150" dirty="0" err="1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Quadrel</a:t>
            </a:r>
            <a:r>
              <a:rPr lang="de-DE" sz="5400" spc="-15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-Services (Werkzeug)</a:t>
            </a:r>
          </a:p>
          <a:p>
            <a:endParaRPr lang="de-DE" sz="5400" spc="-150" dirty="0">
              <a:solidFill>
                <a:schemeClr val="tx1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r>
              <a:rPr lang="de-DE" sz="5400" spc="-15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Es ermöglicht ein schnelle, qualitätsgesicherte und anpassbare Realisierung von komplexen Benutzeroberflächen und deren Anbindung an das Backend in einem </a:t>
            </a:r>
            <a:r>
              <a:rPr lang="de-DE" sz="5400" b="1" spc="-15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Enterprise Umfeld</a:t>
            </a:r>
            <a:r>
              <a:rPr lang="de-DE" sz="5400" spc="-15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.</a:t>
            </a:r>
          </a:p>
          <a:p>
            <a:endParaRPr lang="de-DE" sz="5400" spc="-1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5400" spc="-1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→ </a:t>
            </a:r>
            <a:r>
              <a:rPr lang="de-DE" sz="5400" spc="-1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Quadrel</a:t>
            </a:r>
            <a:r>
              <a:rPr lang="de-DE" sz="5400" spc="-1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 (</a:t>
            </a:r>
            <a:r>
              <a:rPr lang="de-DE" sz="5400" spc="-1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Confluence</a:t>
            </a:r>
            <a:r>
              <a:rPr lang="de-DE" sz="5400" spc="-1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) </a:t>
            </a:r>
            <a:endParaRPr lang="de-DE" sz="5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5213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E1203B35-A81E-2544-A59E-1EDEA9378665}"/>
              </a:ext>
            </a:extLst>
          </p:cNvPr>
          <p:cNvSpPr/>
          <p:nvPr/>
        </p:nvSpPr>
        <p:spPr>
          <a:xfrm>
            <a:off x="719998" y="720331"/>
            <a:ext cx="23760000" cy="165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0" tIns="612000" rIns="1080000" bIns="10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de-DE" sz="8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Quadrel</a:t>
            </a:r>
            <a:r>
              <a:rPr lang="de-DE" sz="8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-UI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8ADE017-FBF0-4F41-B231-462DFFDA63CD}"/>
              </a:ext>
            </a:extLst>
          </p:cNvPr>
          <p:cNvSpPr/>
          <p:nvPr/>
        </p:nvSpPr>
        <p:spPr>
          <a:xfrm>
            <a:off x="719998" y="720331"/>
            <a:ext cx="23760000" cy="165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0" rIns="720000" bIns="720000" rtlCol="0" anchor="t"/>
          <a:lstStyle/>
          <a:p>
            <a:pPr>
              <a:lnSpc>
                <a:spcPts val="10000"/>
              </a:lnSpc>
            </a:pPr>
            <a:endParaRPr lang="de-DE" sz="4000" b="1" spc="-150" dirty="0">
              <a:solidFill>
                <a:schemeClr val="tx1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8" name="Rechteck 3">
            <a:extLst>
              <a:ext uri="{FF2B5EF4-FFF2-40B4-BE49-F238E27FC236}">
                <a16:creationId xmlns:a16="http://schemas.microsoft.com/office/drawing/2014/main" id="{E1203B35-A81E-2544-A59E-1EDEA9378665}"/>
              </a:ext>
            </a:extLst>
          </p:cNvPr>
          <p:cNvSpPr/>
          <p:nvPr/>
        </p:nvSpPr>
        <p:spPr>
          <a:xfrm>
            <a:off x="720000" y="3780000"/>
            <a:ext cx="23760000" cy="136803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0" tIns="0" rIns="108000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de-CH" sz="5400" spc="-150" dirty="0" err="1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Quadrel</a:t>
            </a:r>
            <a:r>
              <a:rPr lang="de-CH" sz="5400" spc="-15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-Ul ist ein integriertes Low-Code-Design-System.</a:t>
            </a:r>
          </a:p>
          <a:p>
            <a:endParaRPr lang="de-CH" sz="5400" spc="-150" dirty="0">
              <a:solidFill>
                <a:schemeClr val="tx1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r>
              <a:rPr lang="de-CH" sz="5400" spc="-15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Im Kern konzentriert sich </a:t>
            </a:r>
            <a:r>
              <a:rPr lang="de-CH" sz="5400" spc="-150" dirty="0" err="1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Quadrel</a:t>
            </a:r>
            <a:r>
              <a:rPr lang="de-CH" sz="5400" spc="-15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auf die schnelle und intuitive Erstellung von Enterprise-Benutzeroberflächen, indem es eine reichhaltige und anforderungsnahe Komponenten- und </a:t>
            </a:r>
            <a:r>
              <a:rPr lang="de-CH" sz="5400" spc="-150" dirty="0" err="1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Patternbibliothek</a:t>
            </a:r>
            <a:r>
              <a:rPr lang="de-CH" sz="5400" spc="-15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und eine leicht verständliche API bereitstellt.</a:t>
            </a:r>
          </a:p>
          <a:p>
            <a:endParaRPr lang="de-CH" sz="5400" spc="-1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5400" spc="-1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Die </a:t>
            </a:r>
            <a:r>
              <a:rPr lang="de-DE" sz="5400" spc="-1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Quadrel</a:t>
            </a:r>
            <a:r>
              <a:rPr lang="de-DE" sz="5400" spc="-1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-UI Library lässt sich </a:t>
            </a:r>
            <a:r>
              <a:rPr lang="de-DE" sz="5400" spc="-1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nathlos</a:t>
            </a:r>
            <a:r>
              <a:rPr lang="de-DE" sz="5400" spc="-1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Angular-Projekte integrieren und ist anwendungsnah dokumentiert (</a:t>
            </a:r>
            <a:r>
              <a:rPr lang="de-DE" sz="5400" spc="-1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Quadrel</a:t>
            </a:r>
            <a:r>
              <a:rPr lang="de-DE" sz="5400" spc="-1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 </a:t>
            </a:r>
            <a:r>
              <a:rPr lang="de-DE" sz="5400" spc="-1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Storybook</a:t>
            </a:r>
            <a:r>
              <a:rPr lang="de-DE" sz="5400" spc="-1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677006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E1203B35-A81E-2544-A59E-1EDEA9378665}"/>
              </a:ext>
            </a:extLst>
          </p:cNvPr>
          <p:cNvSpPr/>
          <p:nvPr/>
        </p:nvSpPr>
        <p:spPr>
          <a:xfrm>
            <a:off x="719998" y="720331"/>
            <a:ext cx="23760000" cy="165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0" tIns="612000" rIns="1080000" bIns="10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de-DE" sz="8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Quadrel</a:t>
            </a:r>
            <a:r>
              <a:rPr lang="de-DE" sz="8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-UI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8ADE017-FBF0-4F41-B231-462DFFDA63CD}"/>
              </a:ext>
            </a:extLst>
          </p:cNvPr>
          <p:cNvSpPr/>
          <p:nvPr/>
        </p:nvSpPr>
        <p:spPr>
          <a:xfrm>
            <a:off x="719998" y="720331"/>
            <a:ext cx="23760000" cy="165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0" rIns="720000" bIns="720000" rtlCol="0" anchor="t"/>
          <a:lstStyle/>
          <a:p>
            <a:pPr>
              <a:lnSpc>
                <a:spcPts val="10000"/>
              </a:lnSpc>
            </a:pPr>
            <a:endParaRPr lang="de-DE" sz="4000" b="1" spc="-150" dirty="0">
              <a:solidFill>
                <a:schemeClr val="tx1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8" name="Rechteck 3">
            <a:extLst>
              <a:ext uri="{FF2B5EF4-FFF2-40B4-BE49-F238E27FC236}">
                <a16:creationId xmlns:a16="http://schemas.microsoft.com/office/drawing/2014/main" id="{E1203B35-A81E-2544-A59E-1EDEA9378665}"/>
              </a:ext>
            </a:extLst>
          </p:cNvPr>
          <p:cNvSpPr/>
          <p:nvPr/>
        </p:nvSpPr>
        <p:spPr>
          <a:xfrm>
            <a:off x="720000" y="3780000"/>
            <a:ext cx="23760000" cy="136803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0" tIns="0" rIns="108000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de-CH" sz="5400" b="1" spc="-1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Quadrel</a:t>
            </a:r>
            <a:r>
              <a:rPr lang="de-CH" sz="5400" b="1" spc="-1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-UI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de-CH" sz="5400" spc="-1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Quadrel</a:t>
            </a:r>
            <a:r>
              <a:rPr lang="de-CH" sz="5400" spc="-1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stellt eigene UI-Components und UI-Patterns auf Grundlage einer stringenten UX-Architektur zur Verfügung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de-CH" sz="5400" spc="-1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</a:t>
            </a:r>
            <a:r>
              <a:rPr lang="de-CH" sz="5400" spc="-1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-Teams können mit </a:t>
            </a:r>
            <a:r>
              <a:rPr lang="de-CH" sz="5400" spc="-1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Quadrel</a:t>
            </a:r>
            <a:r>
              <a:rPr lang="de-CH" sz="5400" spc="-1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nach definierten Vorgaben Benutzerflächen mit einem Low-Code-Ansatz implementieren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de-CH" sz="5400" spc="-1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UI/UX/AX liegt in der Verantwortung von </a:t>
            </a:r>
            <a:r>
              <a:rPr lang="de-CH" sz="5400" spc="-1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Quadrel</a:t>
            </a:r>
            <a:r>
              <a:rPr lang="de-CH" sz="5400" spc="-1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-UI / </a:t>
            </a:r>
            <a:r>
              <a:rPr lang="de-CH" sz="5400" spc="-1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Quadrel</a:t>
            </a:r>
            <a:r>
              <a:rPr lang="de-CH" sz="5400" spc="-1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-UCD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de-DE" sz="5400" spc="-1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5980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E1203B35-A81E-2544-A59E-1EDEA9378665}"/>
              </a:ext>
            </a:extLst>
          </p:cNvPr>
          <p:cNvSpPr/>
          <p:nvPr/>
        </p:nvSpPr>
        <p:spPr>
          <a:xfrm>
            <a:off x="719998" y="720331"/>
            <a:ext cx="23760000" cy="165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8ADE017-FBF0-4F41-B231-462DFFDA63CD}"/>
              </a:ext>
            </a:extLst>
          </p:cNvPr>
          <p:cNvSpPr/>
          <p:nvPr/>
        </p:nvSpPr>
        <p:spPr>
          <a:xfrm>
            <a:off x="719998" y="720331"/>
            <a:ext cx="23760000" cy="165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0" tIns="612000" rIns="1080000" bIns="1080000" rtlCol="0" anchor="t"/>
          <a:lstStyle/>
          <a:p>
            <a:pPr>
              <a:lnSpc>
                <a:spcPts val="10000"/>
              </a:lnSpc>
            </a:pPr>
            <a:r>
              <a:rPr lang="de-DE" sz="8400" b="1" spc="-15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Enterprise </a:t>
            </a:r>
            <a:r>
              <a:rPr lang="de-DE" sz="8400" b="1" spc="-150" dirty="0" err="1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Leaders</a:t>
            </a:r>
            <a:r>
              <a:rPr lang="de-DE" sz="8400" b="1" spc="-15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– User Interface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1879354" y="3115582"/>
            <a:ext cx="21429608" cy="13583037"/>
            <a:chOff x="1182668" y="2035697"/>
            <a:chExt cx="25662511" cy="16266047"/>
          </a:xfrm>
        </p:grpSpPr>
        <p:pic>
          <p:nvPicPr>
            <p:cNvPr id="21" name="Picture 8" descr="https://www.oracle.com/a/pr/img/c82-cooperman-2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2668" y="3140132"/>
              <a:ext cx="12793339" cy="7196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2" descr="Object page floorplan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85104" y="3140133"/>
              <a:ext cx="13360075" cy="83500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4" descr="Lektion &amp;quot;Kennenlernen von Lightning Experience&amp;quot; | Salesforce Trailhead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2668" y="9727523"/>
              <a:ext cx="12286665" cy="7514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6" descr="IBM Cloud Pak for Data Reviews 2022: Details, Pricing, &amp;amp; Features | G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85102" y="9727522"/>
              <a:ext cx="13359320" cy="75146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Rounded Rectangle 24"/>
            <p:cNvSpPr/>
            <p:nvPr/>
          </p:nvSpPr>
          <p:spPr>
            <a:xfrm>
              <a:off x="25226220" y="2035697"/>
              <a:ext cx="1618202" cy="84749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sz="2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SAP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25226977" y="17454252"/>
              <a:ext cx="1618202" cy="84749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sz="2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IBM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1182668" y="17454252"/>
              <a:ext cx="2520718" cy="84749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sz="28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Salesforce</a:t>
              </a:r>
              <a:endParaRPr lang="de-CH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1182668" y="2082306"/>
              <a:ext cx="1618202" cy="84749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sz="2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Oracle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24204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E1203B35-A81E-2544-A59E-1EDEA9378665}"/>
              </a:ext>
            </a:extLst>
          </p:cNvPr>
          <p:cNvSpPr/>
          <p:nvPr/>
        </p:nvSpPr>
        <p:spPr>
          <a:xfrm>
            <a:off x="719998" y="720331"/>
            <a:ext cx="23760000" cy="165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8ADE017-FBF0-4F41-B231-462DFFDA63CD}"/>
              </a:ext>
            </a:extLst>
          </p:cNvPr>
          <p:cNvSpPr/>
          <p:nvPr/>
        </p:nvSpPr>
        <p:spPr>
          <a:xfrm>
            <a:off x="719998" y="720331"/>
            <a:ext cx="23760000" cy="165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0" tIns="612000" rIns="1080000" bIns="1080000" rtlCol="0" anchor="t"/>
          <a:lstStyle/>
          <a:p>
            <a:pPr>
              <a:lnSpc>
                <a:spcPts val="10000"/>
              </a:lnSpc>
            </a:pPr>
            <a:r>
              <a:rPr lang="de-DE" sz="8400" b="1" spc="-15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Prozess-orientierte Applikationen</a:t>
            </a:r>
          </a:p>
        </p:txBody>
      </p:sp>
      <p:sp>
        <p:nvSpPr>
          <p:cNvPr id="19" name="Oval 18"/>
          <p:cNvSpPr/>
          <p:nvPr/>
        </p:nvSpPr>
        <p:spPr>
          <a:xfrm>
            <a:off x="5793225" y="10437284"/>
            <a:ext cx="3393234" cy="339323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CH" sz="3600" b="1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Data</a:t>
            </a:r>
            <a:br>
              <a:rPr lang="de-CH" sz="3600" b="1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</a:br>
            <a:r>
              <a:rPr lang="de-CH" sz="3600" b="1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Lists</a:t>
            </a:r>
          </a:p>
        </p:txBody>
      </p:sp>
      <p:sp>
        <p:nvSpPr>
          <p:cNvPr id="21" name="Oval 20"/>
          <p:cNvSpPr/>
          <p:nvPr/>
        </p:nvSpPr>
        <p:spPr>
          <a:xfrm>
            <a:off x="1992997" y="10992973"/>
            <a:ext cx="2281857" cy="228185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CH" sz="3600" b="1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Start</a:t>
            </a:r>
          </a:p>
        </p:txBody>
      </p:sp>
      <p:cxnSp>
        <p:nvCxnSpPr>
          <p:cNvPr id="23" name="Straight Arrow Connector 22"/>
          <p:cNvCxnSpPr>
            <a:stCxn id="21" idx="6"/>
            <a:endCxn id="19" idx="2"/>
          </p:cNvCxnSpPr>
          <p:nvPr/>
        </p:nvCxnSpPr>
        <p:spPr>
          <a:xfrm flipV="1">
            <a:off x="4274854" y="12133901"/>
            <a:ext cx="1518371" cy="1"/>
          </a:xfrm>
          <a:prstGeom prst="straightConnector1">
            <a:avLst/>
          </a:prstGeom>
          <a:ln w="63500">
            <a:solidFill>
              <a:schemeClr val="tx1"/>
            </a:solidFill>
            <a:headEnd type="oval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9" idx="6"/>
          </p:cNvCxnSpPr>
          <p:nvPr/>
        </p:nvCxnSpPr>
        <p:spPr>
          <a:xfrm>
            <a:off x="9186459" y="12133901"/>
            <a:ext cx="1735622" cy="1"/>
          </a:xfrm>
          <a:prstGeom prst="straightConnector1">
            <a:avLst/>
          </a:prstGeom>
          <a:ln w="63500">
            <a:solidFill>
              <a:schemeClr val="tx1"/>
            </a:solidFill>
            <a:headEnd type="oval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0704830" y="10437284"/>
            <a:ext cx="3393234" cy="339323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CH" sz="3600" b="1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Data</a:t>
            </a:r>
          </a:p>
          <a:p>
            <a:pPr algn="ctr"/>
            <a:r>
              <a:rPr lang="de-CH" sz="3600" b="1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Detail</a:t>
            </a:r>
          </a:p>
        </p:txBody>
      </p:sp>
      <p:cxnSp>
        <p:nvCxnSpPr>
          <p:cNvPr id="27" name="Straight Arrow Connector 26"/>
          <p:cNvCxnSpPr>
            <a:stCxn id="26" idx="6"/>
            <a:endCxn id="33" idx="1"/>
          </p:cNvCxnSpPr>
          <p:nvPr/>
        </p:nvCxnSpPr>
        <p:spPr>
          <a:xfrm flipV="1">
            <a:off x="14098064" y="12133118"/>
            <a:ext cx="1518371" cy="783"/>
          </a:xfrm>
          <a:prstGeom prst="straightConnector1">
            <a:avLst/>
          </a:prstGeom>
          <a:ln w="63500">
            <a:solidFill>
              <a:schemeClr val="tx1"/>
            </a:solidFill>
            <a:headEnd type="oval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20529607" y="10992973"/>
            <a:ext cx="2281857" cy="228185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CH" sz="3600" b="1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Next</a:t>
            </a:r>
          </a:p>
        </p:txBody>
      </p:sp>
      <p:sp>
        <p:nvSpPr>
          <p:cNvPr id="28" name="Oval 27"/>
          <p:cNvSpPr/>
          <p:nvPr/>
        </p:nvSpPr>
        <p:spPr>
          <a:xfrm>
            <a:off x="20529606" y="14070707"/>
            <a:ext cx="2281857" cy="228185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CH" sz="3600" b="1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Start</a:t>
            </a:r>
          </a:p>
        </p:txBody>
      </p:sp>
      <p:sp>
        <p:nvSpPr>
          <p:cNvPr id="29" name="Oval 28"/>
          <p:cNvSpPr/>
          <p:nvPr/>
        </p:nvSpPr>
        <p:spPr>
          <a:xfrm>
            <a:off x="20529605" y="7971932"/>
            <a:ext cx="2281857" cy="228185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CH" sz="3600" b="1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End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616435" y="10435718"/>
            <a:ext cx="3394800" cy="33948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CH" sz="3600" b="1" dirty="0" err="1">
                <a:solidFill>
                  <a:schemeClr val="bg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Process</a:t>
            </a:r>
            <a:endParaRPr lang="de-CH" sz="3600" b="1" dirty="0">
              <a:solidFill>
                <a:schemeClr val="bg1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cxnSp>
        <p:nvCxnSpPr>
          <p:cNvPr id="25" name="Straight Arrow Connector 24"/>
          <p:cNvCxnSpPr>
            <a:endCxn id="22" idx="2"/>
          </p:cNvCxnSpPr>
          <p:nvPr/>
        </p:nvCxnSpPr>
        <p:spPr>
          <a:xfrm>
            <a:off x="19011235" y="12133902"/>
            <a:ext cx="1518372" cy="0"/>
          </a:xfrm>
          <a:prstGeom prst="straightConnector1">
            <a:avLst/>
          </a:prstGeom>
          <a:ln w="63500">
            <a:solidFill>
              <a:schemeClr val="tx1"/>
            </a:solidFill>
            <a:headEnd type="oval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/>
          <p:cNvCxnSpPr>
            <a:stCxn id="33" idx="0"/>
            <a:endCxn id="29" idx="2"/>
          </p:cNvCxnSpPr>
          <p:nvPr/>
        </p:nvCxnSpPr>
        <p:spPr>
          <a:xfrm rot="5400000" flipH="1" flipV="1">
            <a:off x="18260292" y="8166405"/>
            <a:ext cx="1322857" cy="3215770"/>
          </a:xfrm>
          <a:prstGeom prst="bentConnector2">
            <a:avLst/>
          </a:prstGeom>
          <a:ln w="63500">
            <a:solidFill>
              <a:schemeClr val="tx1"/>
            </a:solidFill>
            <a:headEnd type="oval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/>
          <p:cNvCxnSpPr>
            <a:stCxn id="33" idx="2"/>
            <a:endCxn id="28" idx="2"/>
          </p:cNvCxnSpPr>
          <p:nvPr/>
        </p:nvCxnSpPr>
        <p:spPr>
          <a:xfrm rot="16200000" flipH="1">
            <a:off x="18231161" y="12913191"/>
            <a:ext cx="1381118" cy="3215771"/>
          </a:xfrm>
          <a:prstGeom prst="bentConnector2">
            <a:avLst/>
          </a:prstGeom>
          <a:ln w="63500">
            <a:solidFill>
              <a:schemeClr val="tx1"/>
            </a:solidFill>
            <a:headEnd type="oval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hteck 3">
            <a:extLst>
              <a:ext uri="{FF2B5EF4-FFF2-40B4-BE49-F238E27FC236}">
                <a16:creationId xmlns:a16="http://schemas.microsoft.com/office/drawing/2014/main" id="{E1203B35-A81E-2544-A59E-1EDEA9378665}"/>
              </a:ext>
            </a:extLst>
          </p:cNvPr>
          <p:cNvSpPr/>
          <p:nvPr/>
        </p:nvSpPr>
        <p:spPr>
          <a:xfrm>
            <a:off x="720000" y="3780000"/>
            <a:ext cx="23760000" cy="45369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0" tIns="0" rIns="108000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de-DE" sz="5400" spc="-1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Alle Anwendungen innerhalb von </a:t>
            </a:r>
            <a:r>
              <a:rPr lang="de-DE" sz="5400" spc="-1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DaziT</a:t>
            </a:r>
            <a:r>
              <a:rPr lang="de-DE" sz="5400" spc="-1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sind auf Geschäftsprozesse ausgerichtet (Enterprise-Applikationen)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de-DE" sz="5400" spc="-1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Quadrel</a:t>
            </a:r>
            <a:r>
              <a:rPr lang="de-DE" sz="5400" spc="-1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-UI basiert daher auf einem übergreifenden Bedienkonzept </a:t>
            </a:r>
            <a:r>
              <a:rPr lang="de-DE" sz="5400" spc="-1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(</a:t>
            </a:r>
            <a:r>
              <a:rPr lang="de-DE" sz="5400" spc="-1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DaziT</a:t>
            </a:r>
            <a:r>
              <a:rPr lang="de-DE" sz="5400" spc="-1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 UX-Architektur)</a:t>
            </a:r>
            <a:endParaRPr lang="de-DE" sz="5400" spc="-1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36089" lvl="1" indent="-685800">
              <a:buFont typeface="Arial" panose="020B0604020202020204" pitchFamily="34" charset="0"/>
              <a:buChar char="•"/>
            </a:pPr>
            <a:r>
              <a:rPr lang="de-DE" sz="5400" spc="-1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Kooperative Arbeitsabläufe</a:t>
            </a:r>
          </a:p>
          <a:p>
            <a:pPr marL="1636089" lvl="1" indent="-685800">
              <a:buFont typeface="Arial" panose="020B0604020202020204" pitchFamily="34" charset="0"/>
              <a:buChar char="•"/>
            </a:pPr>
            <a:r>
              <a:rPr lang="de-DE" sz="5400" spc="-1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Reduzierung der Komplexität für alle Anwender</a:t>
            </a:r>
            <a:endParaRPr lang="de-DE" sz="5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7883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E1203B35-A81E-2544-A59E-1EDEA9378665}"/>
              </a:ext>
            </a:extLst>
          </p:cNvPr>
          <p:cNvSpPr/>
          <p:nvPr/>
        </p:nvSpPr>
        <p:spPr>
          <a:xfrm>
            <a:off x="719998" y="720331"/>
            <a:ext cx="23760000" cy="165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8ADE017-FBF0-4F41-B231-462DFFDA63CD}"/>
              </a:ext>
            </a:extLst>
          </p:cNvPr>
          <p:cNvSpPr/>
          <p:nvPr/>
        </p:nvSpPr>
        <p:spPr>
          <a:xfrm>
            <a:off x="719998" y="720331"/>
            <a:ext cx="23760000" cy="165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0" tIns="612000" rIns="1080000" bIns="1080000" rtlCol="0" anchor="t"/>
          <a:lstStyle/>
          <a:p>
            <a:pPr>
              <a:lnSpc>
                <a:spcPts val="10000"/>
              </a:lnSpc>
            </a:pPr>
            <a:r>
              <a:rPr lang="de-DE" sz="8400" b="1" spc="-15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Funktionen – Enterprise Anwendungen</a:t>
            </a:r>
          </a:p>
        </p:txBody>
      </p:sp>
      <p:pic>
        <p:nvPicPr>
          <p:cNvPr id="5" name="Grafik 7">
            <a:extLst>
              <a:ext uri="{FF2B5EF4-FFF2-40B4-BE49-F238E27FC236}">
                <a16:creationId xmlns:a16="http://schemas.microsoft.com/office/drawing/2014/main" id="{BDF00481-1E30-534F-82D2-E6E1942F1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4975" y="16426612"/>
            <a:ext cx="1924798" cy="499628"/>
          </a:xfrm>
          <a:prstGeom prst="rect">
            <a:avLst/>
          </a:prstGeom>
        </p:spPr>
      </p:pic>
      <p:sp>
        <p:nvSpPr>
          <p:cNvPr id="8" name="Oval 7"/>
          <p:cNvSpPr>
            <a:spLocks noChangeAspect="1"/>
          </p:cNvSpPr>
          <p:nvPr/>
        </p:nvSpPr>
        <p:spPr>
          <a:xfrm>
            <a:off x="20198421" y="12677803"/>
            <a:ext cx="2916000" cy="291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CH" sz="2800" b="1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Filter</a:t>
            </a:r>
          </a:p>
        </p:txBody>
      </p:sp>
      <p:sp>
        <p:nvSpPr>
          <p:cNvPr id="9" name="Oval 8"/>
          <p:cNvSpPr>
            <a:spLocks noChangeAspect="1"/>
          </p:cNvSpPr>
          <p:nvPr/>
        </p:nvSpPr>
        <p:spPr>
          <a:xfrm>
            <a:off x="12826546" y="12677803"/>
            <a:ext cx="2916000" cy="291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CH" sz="2800" b="1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Table</a:t>
            </a:r>
          </a:p>
        </p:txBody>
      </p:sp>
      <p:sp>
        <p:nvSpPr>
          <p:cNvPr id="10" name="Oval 9"/>
          <p:cNvSpPr>
            <a:spLocks noChangeAspect="1"/>
          </p:cNvSpPr>
          <p:nvPr/>
        </p:nvSpPr>
        <p:spPr>
          <a:xfrm>
            <a:off x="9140608" y="12677803"/>
            <a:ext cx="2916000" cy="291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CH" sz="2800" b="1" dirty="0" err="1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Notification</a:t>
            </a:r>
            <a:endParaRPr lang="de-CH" sz="2800" b="1" dirty="0">
              <a:solidFill>
                <a:schemeClr val="tx1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" name="Oval 10"/>
          <p:cNvSpPr>
            <a:spLocks noChangeAspect="1"/>
          </p:cNvSpPr>
          <p:nvPr/>
        </p:nvSpPr>
        <p:spPr>
          <a:xfrm>
            <a:off x="5454670" y="12677803"/>
            <a:ext cx="2916000" cy="291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CH" sz="2800" b="1" dirty="0" err="1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Localization</a:t>
            </a:r>
            <a:endParaRPr lang="de-CH" sz="2800" b="1" dirty="0">
              <a:solidFill>
                <a:schemeClr val="tx1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" name="Oval 11"/>
          <p:cNvSpPr>
            <a:spLocks noChangeAspect="1"/>
          </p:cNvSpPr>
          <p:nvPr/>
        </p:nvSpPr>
        <p:spPr>
          <a:xfrm>
            <a:off x="1768732" y="12677803"/>
            <a:ext cx="2916000" cy="291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CH" sz="2800" b="1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Forms</a:t>
            </a:r>
          </a:p>
        </p:txBody>
      </p:sp>
      <p:sp>
        <p:nvSpPr>
          <p:cNvPr id="13" name="Oval 12"/>
          <p:cNvSpPr>
            <a:spLocks noChangeAspect="1"/>
          </p:cNvSpPr>
          <p:nvPr/>
        </p:nvSpPr>
        <p:spPr>
          <a:xfrm>
            <a:off x="10874722" y="7206163"/>
            <a:ext cx="3240000" cy="324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CH" sz="2800" b="1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Layout System (</a:t>
            </a:r>
            <a:r>
              <a:rPr lang="de-CH" sz="2800" b="1" dirty="0" err="1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Responsive</a:t>
            </a:r>
            <a:r>
              <a:rPr lang="de-CH" sz="2800" b="1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)</a:t>
            </a:r>
          </a:p>
        </p:txBody>
      </p:sp>
      <p:cxnSp>
        <p:nvCxnSpPr>
          <p:cNvPr id="15" name="Elbow Connector 14"/>
          <p:cNvCxnSpPr/>
          <p:nvPr/>
        </p:nvCxnSpPr>
        <p:spPr>
          <a:xfrm rot="5400000" flipH="1" flipV="1">
            <a:off x="12441577" y="3462959"/>
            <a:ext cx="12700" cy="18429689"/>
          </a:xfrm>
          <a:prstGeom prst="bentConnector3">
            <a:avLst>
              <a:gd name="adj1" fmla="val 9514283"/>
            </a:avLst>
          </a:prstGeom>
          <a:ln w="63500">
            <a:solidFill>
              <a:schemeClr val="tx1"/>
            </a:solidFill>
            <a:headEnd type="oval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>
            <a:spLocks noChangeAspect="1"/>
          </p:cNvSpPr>
          <p:nvPr/>
        </p:nvSpPr>
        <p:spPr>
          <a:xfrm>
            <a:off x="16512484" y="12690504"/>
            <a:ext cx="2916000" cy="291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CH" sz="2800" b="1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Search</a:t>
            </a:r>
          </a:p>
        </p:txBody>
      </p:sp>
      <p:cxnSp>
        <p:nvCxnSpPr>
          <p:cNvPr id="43" name="Elbow Connector 42"/>
          <p:cNvCxnSpPr/>
          <p:nvPr/>
        </p:nvCxnSpPr>
        <p:spPr>
          <a:xfrm rot="16200000" flipH="1">
            <a:off x="12441600" y="7148897"/>
            <a:ext cx="12701" cy="11057814"/>
          </a:xfrm>
          <a:prstGeom prst="bentConnector3">
            <a:avLst>
              <a:gd name="adj1" fmla="val -9342123"/>
            </a:avLst>
          </a:prstGeom>
          <a:ln w="63500">
            <a:solidFill>
              <a:schemeClr val="tx1"/>
            </a:solidFill>
            <a:headEnd type="oval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/>
          <p:cNvCxnSpPr/>
          <p:nvPr/>
        </p:nvCxnSpPr>
        <p:spPr>
          <a:xfrm rot="5400000" flipH="1" flipV="1">
            <a:off x="12441600" y="10834834"/>
            <a:ext cx="12700" cy="3685938"/>
          </a:xfrm>
          <a:prstGeom prst="bentConnector3">
            <a:avLst>
              <a:gd name="adj1" fmla="val 9342858"/>
            </a:avLst>
          </a:prstGeom>
          <a:ln w="63500">
            <a:solidFill>
              <a:schemeClr val="tx1"/>
            </a:solidFill>
            <a:headEnd type="oval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>
            <a:off x="12494722" y="10620331"/>
            <a:ext cx="0" cy="896755"/>
          </a:xfrm>
          <a:prstGeom prst="line">
            <a:avLst/>
          </a:prstGeom>
          <a:ln w="63500">
            <a:solidFill>
              <a:schemeClr val="tx1"/>
            </a:solidFill>
            <a:headEnd type="oval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hteck 3">
            <a:extLst>
              <a:ext uri="{FF2B5EF4-FFF2-40B4-BE49-F238E27FC236}">
                <a16:creationId xmlns:a16="http://schemas.microsoft.com/office/drawing/2014/main" id="{E1203B35-A81E-2544-A59E-1EDEA9378665}"/>
              </a:ext>
            </a:extLst>
          </p:cNvPr>
          <p:cNvSpPr/>
          <p:nvPr/>
        </p:nvSpPr>
        <p:spPr>
          <a:xfrm>
            <a:off x="720000" y="3780000"/>
            <a:ext cx="23760000" cy="30720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0" tIns="0" rIns="108000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de-DE" sz="5400" spc="-1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Reduzierung der Komplexität in der Bedienoberfläche durch den Einsatz von wenigen, aber sehr leistungsfähigen Funktionen.</a:t>
            </a:r>
          </a:p>
          <a:p>
            <a:endParaRPr lang="de-DE" sz="5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2687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E1203B35-A81E-2544-A59E-1EDEA9378665}"/>
              </a:ext>
            </a:extLst>
          </p:cNvPr>
          <p:cNvSpPr/>
          <p:nvPr/>
        </p:nvSpPr>
        <p:spPr>
          <a:xfrm>
            <a:off x="720000" y="720000"/>
            <a:ext cx="23760000" cy="165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8ADE017-FBF0-4F41-B231-462DFFDA63CD}"/>
              </a:ext>
            </a:extLst>
          </p:cNvPr>
          <p:cNvSpPr/>
          <p:nvPr/>
        </p:nvSpPr>
        <p:spPr>
          <a:xfrm>
            <a:off x="719998" y="720331"/>
            <a:ext cx="23760000" cy="165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0" tIns="720000" rIns="1080000" bIns="1080000" rtlCol="0" anchor="t"/>
          <a:lstStyle/>
          <a:p>
            <a:pPr>
              <a:lnSpc>
                <a:spcPts val="10000"/>
              </a:lnSpc>
            </a:pPr>
            <a:r>
              <a:rPr lang="de-DE" sz="8400" b="1" spc="-15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Definition UI-Pattern</a:t>
            </a:r>
          </a:p>
        </p:txBody>
      </p:sp>
      <p:sp>
        <p:nvSpPr>
          <p:cNvPr id="7" name="Rechteck 3">
            <a:extLst>
              <a:ext uri="{FF2B5EF4-FFF2-40B4-BE49-F238E27FC236}">
                <a16:creationId xmlns:a16="http://schemas.microsoft.com/office/drawing/2014/main" id="{E1203B35-A81E-2544-A59E-1EDEA9378665}"/>
              </a:ext>
            </a:extLst>
          </p:cNvPr>
          <p:cNvSpPr/>
          <p:nvPr/>
        </p:nvSpPr>
        <p:spPr>
          <a:xfrm>
            <a:off x="719998" y="3780000"/>
            <a:ext cx="23760000" cy="133298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0" tIns="0" rIns="108000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de-DE" sz="4400" spc="-1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UI-Patterns = wiederverwendbare UI-Libraries für komplexe Bedienkonzepte, die bereits schon erfolgreich analysiert und umgesetzt wurden (z.B. Tabelle, Filter Tabelle).</a:t>
            </a:r>
          </a:p>
          <a:p>
            <a:r>
              <a:rPr lang="de-DE" sz="4400" spc="-1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Abstrahiert Funktionen auf eine Bedienoberfläche</a:t>
            </a:r>
          </a:p>
          <a:p>
            <a:endParaRPr lang="de-DE" sz="4400" spc="-1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de-DE" sz="4400" spc="-1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Bestehen aus mehreren atomaren UI-Komponenten wie Buttons und Formularfeldern (z.B. Filter)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de-DE" sz="4400" spc="-15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Sind hochspezialisierte Lösungen zur Datenanzeige und -ausgabe (z.B. Tabelle)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de-DE" sz="4400" spc="-15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Integrieren mehrere Funktionen</a:t>
            </a:r>
          </a:p>
          <a:p>
            <a:endParaRPr lang="de-DE" sz="4400" spc="-150" dirty="0">
              <a:solidFill>
                <a:schemeClr val="tx1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endParaRPr lang="de-DE" sz="4400" spc="-150" dirty="0">
              <a:solidFill>
                <a:schemeClr val="tx1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r>
              <a:rPr lang="de-DE" sz="3600" spc="-15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Beispiel UI Pattern: QD-Filter-Table </a:t>
            </a:r>
            <a:r>
              <a:rPr lang="de-DE" sz="3600" spc="-15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  <a:hlinkClick r:id="rId2"/>
              </a:rPr>
              <a:t>(</a:t>
            </a:r>
            <a:r>
              <a:rPr lang="de-DE" sz="3600" spc="-150" dirty="0" err="1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  <a:hlinkClick r:id="rId2"/>
              </a:rPr>
              <a:t>Storybook</a:t>
            </a:r>
            <a:r>
              <a:rPr lang="de-DE" sz="3600" spc="-15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  <a:hlinkClick r:id="rId2"/>
              </a:rPr>
              <a:t>)</a:t>
            </a:r>
            <a:endParaRPr lang="de-DE" sz="3600" spc="-150" dirty="0">
              <a:solidFill>
                <a:schemeClr val="tx1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endParaRPr lang="de-DE" sz="4400" spc="-150" dirty="0">
              <a:solidFill>
                <a:schemeClr val="tx1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endParaRPr lang="de-DE" sz="4400" spc="-150" dirty="0">
              <a:solidFill>
                <a:schemeClr val="tx1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endParaRPr lang="de-DE" sz="4400" spc="-150" dirty="0">
              <a:solidFill>
                <a:schemeClr val="tx1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endParaRPr lang="de-DE" sz="4400" spc="-150" dirty="0">
              <a:solidFill>
                <a:schemeClr val="tx1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endParaRPr lang="de-DE" sz="4400" spc="-150" dirty="0">
              <a:solidFill>
                <a:schemeClr val="tx1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4348" y="11299936"/>
            <a:ext cx="21896998" cy="3439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413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E1203B35-A81E-2544-A59E-1EDEA9378665}"/>
              </a:ext>
            </a:extLst>
          </p:cNvPr>
          <p:cNvSpPr/>
          <p:nvPr/>
        </p:nvSpPr>
        <p:spPr>
          <a:xfrm>
            <a:off x="719998" y="720331"/>
            <a:ext cx="23760000" cy="165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0" tIns="612000" rIns="1080000" bIns="10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de-DE" sz="8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Beziehung Pattern / Projekt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8ADE017-FBF0-4F41-B231-462DFFDA63CD}"/>
              </a:ext>
            </a:extLst>
          </p:cNvPr>
          <p:cNvSpPr/>
          <p:nvPr/>
        </p:nvSpPr>
        <p:spPr>
          <a:xfrm>
            <a:off x="719998" y="720331"/>
            <a:ext cx="23760000" cy="165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0" rIns="720000" bIns="720000" rtlCol="0" anchor="t"/>
          <a:lstStyle/>
          <a:p>
            <a:pPr>
              <a:lnSpc>
                <a:spcPts val="10000"/>
              </a:lnSpc>
            </a:pPr>
            <a:endParaRPr lang="de-DE" sz="4000" b="1" spc="-150" dirty="0">
              <a:solidFill>
                <a:schemeClr val="tx1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78" name="Rechteck 55">
            <a:extLst>
              <a:ext uri="{FF2B5EF4-FFF2-40B4-BE49-F238E27FC236}">
                <a16:creationId xmlns:a16="http://schemas.microsoft.com/office/drawing/2014/main" id="{A0D25A40-3889-7D46-B3AB-6247856132DB}"/>
              </a:ext>
            </a:extLst>
          </p:cNvPr>
          <p:cNvSpPr/>
          <p:nvPr/>
        </p:nvSpPr>
        <p:spPr>
          <a:xfrm>
            <a:off x="17690683" y="11045089"/>
            <a:ext cx="3670043" cy="43418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51999" rIns="36000" bIns="0" rtlCol="0" anchor="t"/>
          <a:lstStyle/>
          <a:p>
            <a:r>
              <a:rPr lang="de-DE" sz="2000" b="1" dirty="0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Client</a:t>
            </a:r>
          </a:p>
        </p:txBody>
      </p:sp>
      <p:sp>
        <p:nvSpPr>
          <p:cNvPr id="79" name="Rechteck 54">
            <a:extLst>
              <a:ext uri="{FF2B5EF4-FFF2-40B4-BE49-F238E27FC236}">
                <a16:creationId xmlns:a16="http://schemas.microsoft.com/office/drawing/2014/main" id="{4226DD31-F29E-6E43-9456-2870D0E7398D}"/>
              </a:ext>
            </a:extLst>
          </p:cNvPr>
          <p:cNvSpPr/>
          <p:nvPr/>
        </p:nvSpPr>
        <p:spPr>
          <a:xfrm>
            <a:off x="7442913" y="4785926"/>
            <a:ext cx="13917813" cy="50287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51999" rIns="36000" bIns="0" rtlCol="0" anchor="t"/>
          <a:lstStyle/>
          <a:p>
            <a:r>
              <a:rPr lang="de-DE" sz="2000" b="1" dirty="0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Client</a:t>
            </a:r>
          </a:p>
        </p:txBody>
      </p:sp>
      <p:sp>
        <p:nvSpPr>
          <p:cNvPr id="80" name="Rechteck 52">
            <a:extLst>
              <a:ext uri="{FF2B5EF4-FFF2-40B4-BE49-F238E27FC236}">
                <a16:creationId xmlns:a16="http://schemas.microsoft.com/office/drawing/2014/main" id="{20B19DA3-D8C1-414E-991B-0C23341526B0}"/>
              </a:ext>
            </a:extLst>
          </p:cNvPr>
          <p:cNvSpPr/>
          <p:nvPr/>
        </p:nvSpPr>
        <p:spPr>
          <a:xfrm>
            <a:off x="2530115" y="4799040"/>
            <a:ext cx="3670043" cy="50155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51999" rIns="36000" bIns="0" rtlCol="0" anchor="t"/>
          <a:lstStyle/>
          <a:p>
            <a:r>
              <a:rPr lang="de-DE" sz="2000" b="1" dirty="0" err="1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Unmanaged</a:t>
            </a:r>
            <a:r>
              <a:rPr lang="de-DE" sz="2000" b="1" dirty="0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UI</a:t>
            </a:r>
          </a:p>
        </p:txBody>
      </p:sp>
      <p:sp>
        <p:nvSpPr>
          <p:cNvPr id="81" name="Rechteck 14">
            <a:extLst>
              <a:ext uri="{FF2B5EF4-FFF2-40B4-BE49-F238E27FC236}">
                <a16:creationId xmlns:a16="http://schemas.microsoft.com/office/drawing/2014/main" id="{11B2FCBE-D02E-3F47-AF6F-3C79D8C66B87}"/>
              </a:ext>
            </a:extLst>
          </p:cNvPr>
          <p:cNvSpPr/>
          <p:nvPr/>
        </p:nvSpPr>
        <p:spPr>
          <a:xfrm>
            <a:off x="2840238" y="5646282"/>
            <a:ext cx="3058369" cy="72053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36000" bIns="0" rtlCol="0" anchor="ctr"/>
          <a:lstStyle/>
          <a:p>
            <a:r>
              <a:rPr lang="de-DE" sz="2000" b="1" dirty="0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Components</a:t>
            </a:r>
          </a:p>
        </p:txBody>
      </p:sp>
      <p:cxnSp>
        <p:nvCxnSpPr>
          <p:cNvPr id="82" name="Gerade Verbindung mit Pfeil 4">
            <a:extLst>
              <a:ext uri="{FF2B5EF4-FFF2-40B4-BE49-F238E27FC236}">
                <a16:creationId xmlns:a16="http://schemas.microsoft.com/office/drawing/2014/main" id="{517861EE-99AA-9342-89DA-54EFF49C461E}"/>
              </a:ext>
            </a:extLst>
          </p:cNvPr>
          <p:cNvCxnSpPr>
            <a:stCxn id="81" idx="3"/>
            <a:endCxn id="86" idx="1"/>
          </p:cNvCxnSpPr>
          <p:nvPr/>
        </p:nvCxnSpPr>
        <p:spPr>
          <a:xfrm>
            <a:off x="5898607" y="6006550"/>
            <a:ext cx="11962815" cy="0"/>
          </a:xfrm>
          <a:prstGeom prst="straightConnector1">
            <a:avLst/>
          </a:prstGeom>
          <a:ln w="38100"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hteck 47">
            <a:extLst>
              <a:ext uri="{FF2B5EF4-FFF2-40B4-BE49-F238E27FC236}">
                <a16:creationId xmlns:a16="http://schemas.microsoft.com/office/drawing/2014/main" id="{C1EECB38-1304-9348-8889-B135755982F5}"/>
              </a:ext>
            </a:extLst>
          </p:cNvPr>
          <p:cNvSpPr/>
          <p:nvPr/>
        </p:nvSpPr>
        <p:spPr>
          <a:xfrm>
            <a:off x="2530115" y="11046838"/>
            <a:ext cx="14048945" cy="43400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51999" rIns="36000" bIns="0" rtlCol="0" anchor="t"/>
          <a:lstStyle/>
          <a:p>
            <a:r>
              <a:rPr lang="de-DE" sz="2000" b="1" dirty="0" err="1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Quadrel</a:t>
            </a:r>
            <a:endParaRPr lang="de-DE" sz="2000" b="1" dirty="0">
              <a:solidFill>
                <a:srgbClr val="171717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84" name="Rechteck 13">
            <a:extLst>
              <a:ext uri="{FF2B5EF4-FFF2-40B4-BE49-F238E27FC236}">
                <a16:creationId xmlns:a16="http://schemas.microsoft.com/office/drawing/2014/main" id="{31A3C92A-AD39-0047-A177-BCF0F39369FD}"/>
              </a:ext>
            </a:extLst>
          </p:cNvPr>
          <p:cNvSpPr/>
          <p:nvPr/>
        </p:nvSpPr>
        <p:spPr>
          <a:xfrm>
            <a:off x="12854361" y="5646282"/>
            <a:ext cx="3058369" cy="72053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36000" bIns="0" rtlCol="0" anchor="ctr"/>
          <a:lstStyle/>
          <a:p>
            <a:r>
              <a:rPr lang="de-DE" sz="2000" b="1" dirty="0">
                <a:solidFill>
                  <a:srgbClr val="17171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UX </a:t>
            </a:r>
            <a:r>
              <a:rPr lang="de-DE" sz="2000" b="1" dirty="0" err="1">
                <a:solidFill>
                  <a:srgbClr val="17171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Architecture</a:t>
            </a:r>
            <a:endParaRPr lang="de-DE" sz="2000" b="1" dirty="0">
              <a:solidFill>
                <a:srgbClr val="171717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85" name="Rechteck 24">
            <a:extLst>
              <a:ext uri="{FF2B5EF4-FFF2-40B4-BE49-F238E27FC236}">
                <a16:creationId xmlns:a16="http://schemas.microsoft.com/office/drawing/2014/main" id="{0495454D-2E3F-3F42-ADED-0251565BC964}"/>
              </a:ext>
            </a:extLst>
          </p:cNvPr>
          <p:cNvSpPr/>
          <p:nvPr/>
        </p:nvSpPr>
        <p:spPr>
          <a:xfrm>
            <a:off x="7847299" y="5646282"/>
            <a:ext cx="3058369" cy="72053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36000" bIns="0" rtlCol="0" anchor="ctr"/>
          <a:lstStyle/>
          <a:p>
            <a:r>
              <a:rPr lang="de-DE" sz="2000" b="1" dirty="0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Project </a:t>
            </a:r>
            <a:r>
              <a:rPr lang="de-DE" sz="2000" b="1" dirty="0" err="1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Requirement</a:t>
            </a:r>
            <a:endParaRPr lang="de-DE" sz="2000" b="1" dirty="0">
              <a:solidFill>
                <a:srgbClr val="171717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86" name="Rechteck 26">
            <a:extLst>
              <a:ext uri="{FF2B5EF4-FFF2-40B4-BE49-F238E27FC236}">
                <a16:creationId xmlns:a16="http://schemas.microsoft.com/office/drawing/2014/main" id="{6D3BE13E-8F54-DC40-AF1F-8BEFA2ED482E}"/>
              </a:ext>
            </a:extLst>
          </p:cNvPr>
          <p:cNvSpPr/>
          <p:nvPr/>
        </p:nvSpPr>
        <p:spPr>
          <a:xfrm>
            <a:off x="17861422" y="5646282"/>
            <a:ext cx="3058369" cy="72053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36000" bIns="0" rtlCol="0" anchor="ctr"/>
          <a:lstStyle/>
          <a:p>
            <a:r>
              <a:rPr lang="de-DE" sz="2000" b="1" dirty="0">
                <a:solidFill>
                  <a:srgbClr val="17171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 Components</a:t>
            </a:r>
            <a:endParaRPr lang="de-DE" sz="2000" b="1" dirty="0">
              <a:solidFill>
                <a:srgbClr val="171717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87" name="Rechteck 27">
            <a:extLst>
              <a:ext uri="{FF2B5EF4-FFF2-40B4-BE49-F238E27FC236}">
                <a16:creationId xmlns:a16="http://schemas.microsoft.com/office/drawing/2014/main" id="{EEFC2051-687B-9A4A-B56F-AE22DB5C24B5}"/>
              </a:ext>
            </a:extLst>
          </p:cNvPr>
          <p:cNvSpPr/>
          <p:nvPr/>
        </p:nvSpPr>
        <p:spPr>
          <a:xfrm>
            <a:off x="17861422" y="6370588"/>
            <a:ext cx="3058369" cy="72053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36000" bIns="0" rtlCol="0" anchor="ctr"/>
          <a:lstStyle/>
          <a:p>
            <a:r>
              <a:rPr lang="de-DE" sz="2000" b="1" dirty="0">
                <a:solidFill>
                  <a:srgbClr val="17171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 Pattern</a:t>
            </a:r>
            <a:endParaRPr lang="de-DE" sz="2000" b="1" dirty="0">
              <a:solidFill>
                <a:srgbClr val="171717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88" name="Rechteck 28">
            <a:extLst>
              <a:ext uri="{FF2B5EF4-FFF2-40B4-BE49-F238E27FC236}">
                <a16:creationId xmlns:a16="http://schemas.microsoft.com/office/drawing/2014/main" id="{6F74EC0D-5887-A146-B661-6A8DA92E3590}"/>
              </a:ext>
            </a:extLst>
          </p:cNvPr>
          <p:cNvSpPr/>
          <p:nvPr/>
        </p:nvSpPr>
        <p:spPr>
          <a:xfrm>
            <a:off x="17861422" y="7091125"/>
            <a:ext cx="3058369" cy="72053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36000" bIns="0" rtlCol="0" anchor="ctr"/>
          <a:lstStyle/>
          <a:p>
            <a:r>
              <a:rPr lang="de-DE" sz="2000" b="1" dirty="0">
                <a:solidFill>
                  <a:srgbClr val="17171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CSS Update</a:t>
            </a:r>
            <a:endParaRPr lang="de-DE" sz="2000" b="1" dirty="0">
              <a:solidFill>
                <a:srgbClr val="171717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89" name="Rechteck 29">
            <a:extLst>
              <a:ext uri="{FF2B5EF4-FFF2-40B4-BE49-F238E27FC236}">
                <a16:creationId xmlns:a16="http://schemas.microsoft.com/office/drawing/2014/main" id="{F753E88F-9659-3B4C-97AC-516F93E5C72F}"/>
              </a:ext>
            </a:extLst>
          </p:cNvPr>
          <p:cNvSpPr/>
          <p:nvPr/>
        </p:nvSpPr>
        <p:spPr>
          <a:xfrm>
            <a:off x="17861422" y="8537196"/>
            <a:ext cx="3058369" cy="72053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36000" bIns="0" rtlCol="0" anchor="ctr"/>
          <a:lstStyle/>
          <a:p>
            <a:r>
              <a:rPr lang="de-DE" sz="2000" b="1" dirty="0">
                <a:solidFill>
                  <a:srgbClr val="17171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</a:t>
            </a:r>
            <a:r>
              <a:rPr lang="de-DE" sz="2000" b="1" dirty="0" err="1">
                <a:solidFill>
                  <a:srgbClr val="17171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Logic</a:t>
            </a:r>
            <a:endParaRPr lang="de-DE" sz="2000" b="1" dirty="0">
              <a:solidFill>
                <a:srgbClr val="171717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90" name="Rechteck 35">
            <a:extLst>
              <a:ext uri="{FF2B5EF4-FFF2-40B4-BE49-F238E27FC236}">
                <a16:creationId xmlns:a16="http://schemas.microsoft.com/office/drawing/2014/main" id="{C1AB7C92-E71B-734F-A02A-AC34E5E3775C}"/>
              </a:ext>
            </a:extLst>
          </p:cNvPr>
          <p:cNvSpPr/>
          <p:nvPr/>
        </p:nvSpPr>
        <p:spPr>
          <a:xfrm>
            <a:off x="2840238" y="12017555"/>
            <a:ext cx="2977136" cy="72177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36000" bIns="0" rtlCol="0" anchor="ctr"/>
          <a:lstStyle/>
          <a:p>
            <a:r>
              <a:rPr lang="de-DE" sz="2000" b="1" dirty="0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Project </a:t>
            </a:r>
            <a:r>
              <a:rPr lang="de-DE" sz="2000" b="1" dirty="0" err="1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Requirement</a:t>
            </a:r>
            <a:endParaRPr lang="de-DE" sz="2000" b="1" dirty="0">
              <a:solidFill>
                <a:srgbClr val="171717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91" name="Rechteck 38">
            <a:extLst>
              <a:ext uri="{FF2B5EF4-FFF2-40B4-BE49-F238E27FC236}">
                <a16:creationId xmlns:a16="http://schemas.microsoft.com/office/drawing/2014/main" id="{A49DCD75-62EA-3D48-AC09-FFF37EC039DE}"/>
              </a:ext>
            </a:extLst>
          </p:cNvPr>
          <p:cNvSpPr/>
          <p:nvPr/>
        </p:nvSpPr>
        <p:spPr>
          <a:xfrm>
            <a:off x="17861421" y="7811661"/>
            <a:ext cx="3058369" cy="72053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36000" bIns="0" rtlCol="0" anchor="ctr"/>
          <a:lstStyle/>
          <a:p>
            <a:r>
              <a:rPr lang="de-DE" sz="2000" b="1" dirty="0">
                <a:solidFill>
                  <a:srgbClr val="17171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 Details</a:t>
            </a:r>
            <a:endParaRPr lang="de-DE" sz="2000" b="1" dirty="0">
              <a:solidFill>
                <a:srgbClr val="171717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92" name="Rechteck 51">
            <a:extLst>
              <a:ext uri="{FF2B5EF4-FFF2-40B4-BE49-F238E27FC236}">
                <a16:creationId xmlns:a16="http://schemas.microsoft.com/office/drawing/2014/main" id="{29C36E59-CE3D-3042-95E6-3799759406A3}"/>
              </a:ext>
            </a:extLst>
          </p:cNvPr>
          <p:cNvSpPr/>
          <p:nvPr/>
        </p:nvSpPr>
        <p:spPr>
          <a:xfrm>
            <a:off x="17996520" y="12017555"/>
            <a:ext cx="3058369" cy="72053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36000" bIns="0" rtlCol="0" anchor="ctr"/>
          <a:lstStyle/>
          <a:p>
            <a:r>
              <a:rPr lang="de-DE" sz="2000" b="1" dirty="0">
                <a:solidFill>
                  <a:srgbClr val="17171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</a:t>
            </a:r>
            <a:r>
              <a:rPr lang="de-DE" sz="2000" b="1" dirty="0" err="1">
                <a:solidFill>
                  <a:srgbClr val="17171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Logic</a:t>
            </a:r>
            <a:endParaRPr lang="de-DE" sz="2000" b="1" dirty="0">
              <a:solidFill>
                <a:srgbClr val="171717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cxnSp>
        <p:nvCxnSpPr>
          <p:cNvPr id="93" name="Gerade Verbindung mit Pfeil 53">
            <a:extLst>
              <a:ext uri="{FF2B5EF4-FFF2-40B4-BE49-F238E27FC236}">
                <a16:creationId xmlns:a16="http://schemas.microsoft.com/office/drawing/2014/main" id="{BAA5D246-C5FF-5645-9B19-F65EE1715D2D}"/>
              </a:ext>
            </a:extLst>
          </p:cNvPr>
          <p:cNvCxnSpPr>
            <a:cxnSpLocks/>
            <a:stCxn id="90" idx="3"/>
          </p:cNvCxnSpPr>
          <p:nvPr/>
        </p:nvCxnSpPr>
        <p:spPr>
          <a:xfrm>
            <a:off x="5817374" y="12378442"/>
            <a:ext cx="12179147" cy="15149"/>
          </a:xfrm>
          <a:prstGeom prst="straightConnector1">
            <a:avLst/>
          </a:prstGeom>
          <a:ln w="38100"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hteck 34">
            <a:extLst>
              <a:ext uri="{FF2B5EF4-FFF2-40B4-BE49-F238E27FC236}">
                <a16:creationId xmlns:a16="http://schemas.microsoft.com/office/drawing/2014/main" id="{4196FCBC-B3E3-D240-BABF-9F9BE8CDCB92}"/>
              </a:ext>
            </a:extLst>
          </p:cNvPr>
          <p:cNvSpPr/>
          <p:nvPr/>
        </p:nvSpPr>
        <p:spPr>
          <a:xfrm>
            <a:off x="7847299" y="12017555"/>
            <a:ext cx="3058369" cy="72053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36000" bIns="0" rtlCol="0" anchor="ctr"/>
          <a:lstStyle/>
          <a:p>
            <a:r>
              <a:rPr lang="de-DE" sz="2000" b="1" dirty="0">
                <a:solidFill>
                  <a:srgbClr val="17171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UX </a:t>
            </a:r>
            <a:r>
              <a:rPr lang="de-DE" sz="2000" b="1" dirty="0" err="1">
                <a:solidFill>
                  <a:srgbClr val="17171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Architecture</a:t>
            </a:r>
            <a:endParaRPr lang="de-DE" sz="2000" b="1" dirty="0">
              <a:solidFill>
                <a:srgbClr val="171717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95" name="Rechteck 37">
            <a:extLst>
              <a:ext uri="{FF2B5EF4-FFF2-40B4-BE49-F238E27FC236}">
                <a16:creationId xmlns:a16="http://schemas.microsoft.com/office/drawing/2014/main" id="{5B01A76F-9268-B948-B821-954B173331CA}"/>
              </a:ext>
            </a:extLst>
          </p:cNvPr>
          <p:cNvSpPr/>
          <p:nvPr/>
        </p:nvSpPr>
        <p:spPr>
          <a:xfrm>
            <a:off x="12947590" y="12017555"/>
            <a:ext cx="3058369" cy="72053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36000" bIns="0" rtlCol="0" anchor="ctr"/>
          <a:lstStyle/>
          <a:p>
            <a:r>
              <a:rPr lang="de-DE" sz="2000" b="1" dirty="0" err="1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Quadrel</a:t>
            </a:r>
            <a:r>
              <a:rPr lang="de-DE" sz="2000" b="1" dirty="0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Library</a:t>
            </a:r>
          </a:p>
        </p:txBody>
      </p:sp>
      <p:sp>
        <p:nvSpPr>
          <p:cNvPr id="96" name="Rechteck 49">
            <a:extLst>
              <a:ext uri="{FF2B5EF4-FFF2-40B4-BE49-F238E27FC236}">
                <a16:creationId xmlns:a16="http://schemas.microsoft.com/office/drawing/2014/main" id="{36D08D36-FBF9-EF4F-890C-94454DDDA896}"/>
              </a:ext>
            </a:extLst>
          </p:cNvPr>
          <p:cNvSpPr/>
          <p:nvPr/>
        </p:nvSpPr>
        <p:spPr>
          <a:xfrm>
            <a:off x="12952832" y="12738092"/>
            <a:ext cx="3058369" cy="72053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36000" bIns="0" rtlCol="0" anchor="ctr"/>
          <a:lstStyle/>
          <a:p>
            <a:r>
              <a:rPr lang="de-DE" sz="2000" b="1" dirty="0" err="1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Quadrel</a:t>
            </a:r>
            <a:r>
              <a:rPr lang="de-DE" sz="2000" b="1" dirty="0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Services</a:t>
            </a:r>
          </a:p>
        </p:txBody>
      </p:sp>
      <p:sp>
        <p:nvSpPr>
          <p:cNvPr id="97" name="Rechteck 50">
            <a:extLst>
              <a:ext uri="{FF2B5EF4-FFF2-40B4-BE49-F238E27FC236}">
                <a16:creationId xmlns:a16="http://schemas.microsoft.com/office/drawing/2014/main" id="{AEFFAE66-6A4A-454E-9010-1C06DA1DCFBE}"/>
              </a:ext>
            </a:extLst>
          </p:cNvPr>
          <p:cNvSpPr/>
          <p:nvPr/>
        </p:nvSpPr>
        <p:spPr>
          <a:xfrm>
            <a:off x="12952832" y="13458628"/>
            <a:ext cx="3058369" cy="72053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36000" bIns="0" rtlCol="0" anchor="ctr"/>
          <a:lstStyle/>
          <a:p>
            <a:r>
              <a:rPr lang="de-DE" sz="2000" b="1" dirty="0" err="1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Quadrel</a:t>
            </a:r>
            <a:r>
              <a:rPr lang="de-DE" sz="2000" b="1" dirty="0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Support</a:t>
            </a:r>
          </a:p>
        </p:txBody>
      </p:sp>
      <p:sp>
        <p:nvSpPr>
          <p:cNvPr id="98" name="Rechteck 56">
            <a:extLst>
              <a:ext uri="{FF2B5EF4-FFF2-40B4-BE49-F238E27FC236}">
                <a16:creationId xmlns:a16="http://schemas.microsoft.com/office/drawing/2014/main" id="{131D37C5-5584-8F4A-9B44-3C286465EF88}"/>
              </a:ext>
            </a:extLst>
          </p:cNvPr>
          <p:cNvSpPr/>
          <p:nvPr/>
        </p:nvSpPr>
        <p:spPr>
          <a:xfrm>
            <a:off x="12952832" y="14179165"/>
            <a:ext cx="3058369" cy="72053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36000" bIns="0" rtlCol="0" anchor="ctr"/>
          <a:lstStyle/>
          <a:p>
            <a:r>
              <a:rPr lang="de-DE" sz="2000" b="1" dirty="0" err="1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Quadrel</a:t>
            </a:r>
            <a:r>
              <a:rPr lang="de-DE" sz="2000" b="1" dirty="0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AX</a:t>
            </a:r>
          </a:p>
        </p:txBody>
      </p:sp>
      <p:cxnSp>
        <p:nvCxnSpPr>
          <p:cNvPr id="99" name="Gewinkelte Verbindung 20">
            <a:extLst>
              <a:ext uri="{FF2B5EF4-FFF2-40B4-BE49-F238E27FC236}">
                <a16:creationId xmlns:a16="http://schemas.microsoft.com/office/drawing/2014/main" id="{6831E0CE-29DA-0740-8774-391D26F6E980}"/>
              </a:ext>
            </a:extLst>
          </p:cNvPr>
          <p:cNvCxnSpPr>
            <a:cxnSpLocks/>
            <a:stCxn id="79" idx="1"/>
            <a:endCxn id="79" idx="3"/>
          </p:cNvCxnSpPr>
          <p:nvPr/>
        </p:nvCxnSpPr>
        <p:spPr>
          <a:xfrm rot="10800000" flipH="1">
            <a:off x="7442913" y="7300280"/>
            <a:ext cx="13917813" cy="10789"/>
          </a:xfrm>
          <a:prstGeom prst="bentConnector5">
            <a:avLst>
              <a:gd name="adj1" fmla="val -4671"/>
              <a:gd name="adj2" fmla="val 31052079"/>
              <a:gd name="adj3" fmla="val 104671"/>
            </a:avLst>
          </a:prstGeom>
          <a:ln w="38100">
            <a:solidFill>
              <a:srgbClr val="FF0000"/>
            </a:solidFill>
            <a:headEnd type="oval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Gewinkelte Verbindung 59">
            <a:extLst>
              <a:ext uri="{FF2B5EF4-FFF2-40B4-BE49-F238E27FC236}">
                <a16:creationId xmlns:a16="http://schemas.microsoft.com/office/drawing/2014/main" id="{B94EDC12-9673-8449-A5D4-BFFA8EE58C19}"/>
              </a:ext>
            </a:extLst>
          </p:cNvPr>
          <p:cNvCxnSpPr>
            <a:cxnSpLocks/>
            <a:stCxn id="83" idx="1"/>
            <a:endCxn id="78" idx="3"/>
          </p:cNvCxnSpPr>
          <p:nvPr/>
        </p:nvCxnSpPr>
        <p:spPr>
          <a:xfrm rot="10800000" flipH="1">
            <a:off x="2530115" y="13216011"/>
            <a:ext cx="18830612" cy="874"/>
          </a:xfrm>
          <a:prstGeom prst="bentConnector5">
            <a:avLst>
              <a:gd name="adj1" fmla="val -2914"/>
              <a:gd name="adj2" fmla="val -341729252"/>
              <a:gd name="adj3" fmla="val 103453"/>
            </a:avLst>
          </a:prstGeom>
          <a:ln w="38100">
            <a:solidFill>
              <a:srgbClr val="FF0000"/>
            </a:solidFill>
            <a:headEnd type="triangle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hteck 57">
            <a:extLst>
              <a:ext uri="{FF2B5EF4-FFF2-40B4-BE49-F238E27FC236}">
                <a16:creationId xmlns:a16="http://schemas.microsoft.com/office/drawing/2014/main" id="{2BC0E9B3-0B38-EA45-82F7-D07EFBADE695}"/>
              </a:ext>
            </a:extLst>
          </p:cNvPr>
          <p:cNvSpPr/>
          <p:nvPr/>
        </p:nvSpPr>
        <p:spPr>
          <a:xfrm>
            <a:off x="12854361" y="3580031"/>
            <a:ext cx="3058369" cy="72053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Iteration</a:t>
            </a:r>
            <a:endParaRPr lang="de-DE" sz="2000" b="1" dirty="0">
              <a:solidFill>
                <a:schemeClr val="bg1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3" name="Rechteck 58">
            <a:extLst>
              <a:ext uri="{FF2B5EF4-FFF2-40B4-BE49-F238E27FC236}">
                <a16:creationId xmlns:a16="http://schemas.microsoft.com/office/drawing/2014/main" id="{0E54F67D-7110-854E-9107-883F39D895AA}"/>
              </a:ext>
            </a:extLst>
          </p:cNvPr>
          <p:cNvSpPr/>
          <p:nvPr/>
        </p:nvSpPr>
        <p:spPr>
          <a:xfrm>
            <a:off x="10350829" y="15870198"/>
            <a:ext cx="3058369" cy="72053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Iteration</a:t>
            </a:r>
            <a:endParaRPr lang="de-DE" sz="2000" b="1" dirty="0">
              <a:solidFill>
                <a:schemeClr val="bg1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pic>
        <p:nvPicPr>
          <p:cNvPr id="104" name="Grafik 64">
            <a:extLst>
              <a:ext uri="{FF2B5EF4-FFF2-40B4-BE49-F238E27FC236}">
                <a16:creationId xmlns:a16="http://schemas.microsoft.com/office/drawing/2014/main" id="{5C0CC783-D02C-A94C-B40C-D472B8178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158" y="8712101"/>
            <a:ext cx="1273131" cy="442359"/>
          </a:xfrm>
          <a:prstGeom prst="rect">
            <a:avLst/>
          </a:prstGeom>
        </p:spPr>
      </p:pic>
      <p:pic>
        <p:nvPicPr>
          <p:cNvPr id="105" name="Grafik 67">
            <a:extLst>
              <a:ext uri="{FF2B5EF4-FFF2-40B4-BE49-F238E27FC236}">
                <a16:creationId xmlns:a16="http://schemas.microsoft.com/office/drawing/2014/main" id="{4318C360-FC8B-4749-B6A4-FA002D9EC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6498307" y="13718560"/>
            <a:ext cx="1273131" cy="442359"/>
          </a:xfrm>
          <a:prstGeom prst="rect">
            <a:avLst/>
          </a:prstGeom>
        </p:spPr>
      </p:pic>
      <p:sp>
        <p:nvSpPr>
          <p:cNvPr id="106" name="Rechteck 68">
            <a:extLst>
              <a:ext uri="{FF2B5EF4-FFF2-40B4-BE49-F238E27FC236}">
                <a16:creationId xmlns:a16="http://schemas.microsoft.com/office/drawing/2014/main" id="{5024816F-C780-EB4E-A00F-75E06F55521D}"/>
              </a:ext>
            </a:extLst>
          </p:cNvPr>
          <p:cNvSpPr/>
          <p:nvPr/>
        </p:nvSpPr>
        <p:spPr>
          <a:xfrm>
            <a:off x="7847298" y="8346670"/>
            <a:ext cx="3716169" cy="7205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de-DE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Verlust der Kompatibilität</a:t>
            </a:r>
            <a:endParaRPr lang="de-DE" sz="2000" b="1" dirty="0">
              <a:solidFill>
                <a:srgbClr val="FF0000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7" name="Rechteck 69">
            <a:extLst>
              <a:ext uri="{FF2B5EF4-FFF2-40B4-BE49-F238E27FC236}">
                <a16:creationId xmlns:a16="http://schemas.microsoft.com/office/drawing/2014/main" id="{5D7407E7-F138-8347-A650-278D8F9AD000}"/>
              </a:ext>
            </a:extLst>
          </p:cNvPr>
          <p:cNvSpPr/>
          <p:nvPr/>
        </p:nvSpPr>
        <p:spPr>
          <a:xfrm>
            <a:off x="18058366" y="13440384"/>
            <a:ext cx="3716169" cy="7205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de-DE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Liefertermin</a:t>
            </a:r>
            <a:endParaRPr lang="de-DE" sz="2000" b="1" dirty="0">
              <a:solidFill>
                <a:srgbClr val="FF0000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8" name="Rechteck 70">
            <a:extLst>
              <a:ext uri="{FF2B5EF4-FFF2-40B4-BE49-F238E27FC236}">
                <a16:creationId xmlns:a16="http://schemas.microsoft.com/office/drawing/2014/main" id="{5191164D-C461-1D4A-9493-3D634E0E29C4}"/>
              </a:ext>
            </a:extLst>
          </p:cNvPr>
          <p:cNvSpPr/>
          <p:nvPr/>
        </p:nvSpPr>
        <p:spPr>
          <a:xfrm>
            <a:off x="2835952" y="7112337"/>
            <a:ext cx="3058369" cy="72053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36000" bIns="0" rtlCol="0" anchor="ctr"/>
          <a:lstStyle/>
          <a:p>
            <a:r>
              <a:rPr lang="de-DE" sz="2000" b="1" dirty="0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Angular Material</a:t>
            </a:r>
          </a:p>
        </p:txBody>
      </p:sp>
      <p:cxnSp>
        <p:nvCxnSpPr>
          <p:cNvPr id="109" name="Gerade Verbindung mit Pfeil 71">
            <a:extLst>
              <a:ext uri="{FF2B5EF4-FFF2-40B4-BE49-F238E27FC236}">
                <a16:creationId xmlns:a16="http://schemas.microsoft.com/office/drawing/2014/main" id="{FA38EAA0-2AD8-374C-AF53-920A3AD93A1B}"/>
              </a:ext>
            </a:extLst>
          </p:cNvPr>
          <p:cNvCxnSpPr>
            <a:cxnSpLocks/>
            <a:stCxn id="108" idx="0"/>
            <a:endCxn id="81" idx="2"/>
          </p:cNvCxnSpPr>
          <p:nvPr/>
        </p:nvCxnSpPr>
        <p:spPr>
          <a:xfrm flipV="1">
            <a:off x="4365137" y="6366819"/>
            <a:ext cx="4286" cy="745518"/>
          </a:xfrm>
          <a:prstGeom prst="straightConnector1">
            <a:avLst/>
          </a:prstGeom>
          <a:ln w="31750">
            <a:solidFill>
              <a:schemeClr val="tx1"/>
            </a:solidFill>
            <a:headEnd type="oval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5576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">
            <a:extLst>
              <a:ext uri="{FF2B5EF4-FFF2-40B4-BE49-F238E27FC236}">
                <a16:creationId xmlns:a16="http://schemas.microsoft.com/office/drawing/2014/main" id="{E1203B35-A81E-2544-A59E-1EDEA9378665}"/>
              </a:ext>
            </a:extLst>
          </p:cNvPr>
          <p:cNvSpPr/>
          <p:nvPr/>
        </p:nvSpPr>
        <p:spPr>
          <a:xfrm>
            <a:off x="719998" y="720331"/>
            <a:ext cx="23760000" cy="165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0" tIns="612000" rIns="1080000" bIns="10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de-DE" sz="8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Pages und Pattern als Grundlage </a:t>
            </a:r>
          </a:p>
        </p:txBody>
      </p:sp>
      <p:sp>
        <p:nvSpPr>
          <p:cNvPr id="5" name="Rechteck 3">
            <a:extLst>
              <a:ext uri="{FF2B5EF4-FFF2-40B4-BE49-F238E27FC236}">
                <a16:creationId xmlns:a16="http://schemas.microsoft.com/office/drawing/2014/main" id="{E1203B35-A81E-2544-A59E-1EDEA9378665}"/>
              </a:ext>
            </a:extLst>
          </p:cNvPr>
          <p:cNvSpPr/>
          <p:nvPr/>
        </p:nvSpPr>
        <p:spPr>
          <a:xfrm>
            <a:off x="719999" y="3950467"/>
            <a:ext cx="4989425" cy="133298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de-DE" sz="4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</a:p>
          <a:p>
            <a:endParaRPr lang="de-DE" sz="4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4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4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Symptome</a:t>
            </a:r>
          </a:p>
          <a:p>
            <a:endParaRPr lang="de-DE" sz="4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4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4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4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Analyse</a:t>
            </a:r>
          </a:p>
          <a:p>
            <a:endParaRPr lang="de-DE" sz="4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4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4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4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4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4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4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4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4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Ergebnis</a:t>
            </a:r>
          </a:p>
        </p:txBody>
      </p:sp>
      <p:sp>
        <p:nvSpPr>
          <p:cNvPr id="7" name="Rechteck 3">
            <a:extLst>
              <a:ext uri="{FF2B5EF4-FFF2-40B4-BE49-F238E27FC236}">
                <a16:creationId xmlns:a16="http://schemas.microsoft.com/office/drawing/2014/main" id="{E1203B35-A81E-2544-A59E-1EDEA9378665}"/>
              </a:ext>
            </a:extLst>
          </p:cNvPr>
          <p:cNvSpPr/>
          <p:nvPr/>
        </p:nvSpPr>
        <p:spPr>
          <a:xfrm>
            <a:off x="5999357" y="3950467"/>
            <a:ext cx="18480642" cy="133298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108000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de-DE" sz="4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Google Material Angular stellt keine höherwertigen UI-Patterns zur Verfügung </a:t>
            </a:r>
          </a:p>
          <a:p>
            <a:endParaRPr lang="de-DE" sz="4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4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UI-Patterns wurden jeweils von den </a:t>
            </a:r>
            <a:r>
              <a:rPr lang="de-DE" sz="4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</a:t>
            </a:r>
            <a:r>
              <a:rPr lang="de-DE" sz="4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-Teams individuell auf der grünen Wiese gebaut werden. Keine einheitliche Benutzererfahrung über die Applikationen hinweg.</a:t>
            </a:r>
          </a:p>
          <a:p>
            <a:endParaRPr lang="de-DE" sz="4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de-DE" sz="4600" spc="-15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Angular Material stellt pro Komponente eine eigene und unveränderbare API zur Verfügung (abgeschlossene Welt)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de-DE" sz="4600" spc="-15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Diese APIs müssten durch eine Custom-API angesteuert und verwaltet werden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de-DE" sz="4600" spc="-15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Dadurch hoher Aufwand und hohe Komplexität bei der Entwicklung eines Patterns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de-DE" sz="4600" spc="-15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Bei einer minimalen Änderung durch Google an der API einer Komponente muss das Pattern überarbeitet werden (Abhängigkeit)</a:t>
            </a:r>
          </a:p>
          <a:p>
            <a:endParaRPr lang="de-DE" sz="4600" spc="-150" dirty="0">
              <a:solidFill>
                <a:schemeClr val="tx1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r>
              <a:rPr lang="de-DE" sz="4600" spc="-15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Austausch der Material Angular Components durch eigene UI-Components mit einheitlicher API (Vorbild = Apple Öko-System)</a:t>
            </a:r>
          </a:p>
        </p:txBody>
      </p:sp>
    </p:spTree>
    <p:extLst>
      <p:ext uri="{BB962C8B-B14F-4D97-AF65-F5344CB8AC3E}">
        <p14:creationId xmlns:p14="http://schemas.microsoft.com/office/powerpoint/2010/main" val="39121009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787D0-9A0F-97CD-D60A-28ACF0943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A46859E5-07EA-5C62-8503-4D8E4D4A7DE7}"/>
              </a:ext>
            </a:extLst>
          </p:cNvPr>
          <p:cNvSpPr/>
          <p:nvPr/>
        </p:nvSpPr>
        <p:spPr>
          <a:xfrm>
            <a:off x="719998" y="720331"/>
            <a:ext cx="23760000" cy="31226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0" tIns="612000" rIns="1080000" bIns="10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de-DE" sz="6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 / </a:t>
            </a:r>
            <a:r>
              <a:rPr lang="de-DE" sz="6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  <a:endParaRPr lang="de-DE" sz="6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C2FE186E-B856-3C6F-2973-93201066CD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51571" y="2810454"/>
            <a:ext cx="21599999" cy="1457999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30662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422E0-A733-B044-DC6C-4C9BE17FD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A91A599C-0C19-1401-B1E8-F6047E463894}"/>
              </a:ext>
            </a:extLst>
          </p:cNvPr>
          <p:cNvSpPr/>
          <p:nvPr/>
        </p:nvSpPr>
        <p:spPr>
          <a:xfrm>
            <a:off x="719998" y="720331"/>
            <a:ext cx="23760000" cy="31226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0" tIns="612000" rIns="1080000" bIns="10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de-DE" sz="6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 / Wizard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B69C9C0A-8DD2-8861-1AFF-F875CCE98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71" y="2810454"/>
            <a:ext cx="21600000" cy="1457999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298429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8A8AD-44A9-8B74-3EA5-F28825764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59BE45A-5B52-2EB0-AB70-DAE762C7175D}"/>
              </a:ext>
            </a:extLst>
          </p:cNvPr>
          <p:cNvSpPr/>
          <p:nvPr/>
        </p:nvSpPr>
        <p:spPr>
          <a:xfrm>
            <a:off x="719998" y="720331"/>
            <a:ext cx="23760000" cy="31226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0" tIns="612000" rIns="1080000" bIns="10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de-DE" sz="6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 / </a:t>
            </a:r>
            <a:r>
              <a:rPr lang="de-DE" sz="6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Inspect</a:t>
            </a:r>
            <a:endParaRPr lang="de-DE" sz="6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FE72AE2-5FBA-BC79-2970-2D69309AD8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51571" y="2810454"/>
            <a:ext cx="21599999" cy="1457999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230391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E1203B35-A81E-2544-A59E-1EDEA9378665}"/>
              </a:ext>
            </a:extLst>
          </p:cNvPr>
          <p:cNvSpPr/>
          <p:nvPr/>
        </p:nvSpPr>
        <p:spPr>
          <a:xfrm>
            <a:off x="719998" y="720331"/>
            <a:ext cx="23760000" cy="165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8ADE017-FBF0-4F41-B231-462DFFDA63CD}"/>
              </a:ext>
            </a:extLst>
          </p:cNvPr>
          <p:cNvSpPr/>
          <p:nvPr/>
        </p:nvSpPr>
        <p:spPr>
          <a:xfrm>
            <a:off x="719998" y="720331"/>
            <a:ext cx="23760000" cy="165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0" tIns="612000" rIns="1080000" bIns="1080000" rtlCol="0" anchor="t"/>
          <a:lstStyle/>
          <a:p>
            <a:pPr>
              <a:lnSpc>
                <a:spcPts val="10000"/>
              </a:lnSpc>
            </a:pPr>
            <a:r>
              <a:rPr lang="de-DE" sz="8400" b="1" spc="-15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Alte Welt – Technische Abhängigkeiten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2669866" y="3056751"/>
            <a:ext cx="19263243" cy="13849308"/>
            <a:chOff x="1158357" y="1327644"/>
            <a:chExt cx="22451637" cy="16141604"/>
          </a:xfrm>
        </p:grpSpPr>
        <p:sp>
          <p:nvSpPr>
            <p:cNvPr id="9" name="Oval 8"/>
            <p:cNvSpPr/>
            <p:nvPr/>
          </p:nvSpPr>
          <p:spPr>
            <a:xfrm>
              <a:off x="12331848" y="2630499"/>
              <a:ext cx="2731689" cy="27316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de-CH" sz="2200" b="1" dirty="0" err="1">
                  <a:solidFill>
                    <a:schemeClr val="tx1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Oblique</a:t>
              </a:r>
              <a:endParaRPr lang="de-CH" sz="2200" b="1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endParaRPr>
            </a:p>
            <a:p>
              <a:pPr algn="ctr"/>
              <a:r>
                <a:rPr lang="de-CH" sz="2200" b="1" dirty="0">
                  <a:solidFill>
                    <a:schemeClr val="tx1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CSS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5838899" y="2481568"/>
              <a:ext cx="2728800" cy="27288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de-CH" sz="2200" b="1" dirty="0">
                  <a:solidFill>
                    <a:schemeClr val="bg1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Angular V13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12331848" y="7860370"/>
              <a:ext cx="2731689" cy="27316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de-CH" sz="2200" b="1" dirty="0" err="1">
                  <a:solidFill>
                    <a:schemeClr val="tx1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Oblique</a:t>
              </a:r>
              <a:r>
                <a:rPr lang="de-CH" sz="2200" b="1" dirty="0">
                  <a:solidFill>
                    <a:schemeClr val="tx1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8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1158357" y="7860370"/>
              <a:ext cx="2728800" cy="27288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de-CH" sz="2200" b="1" dirty="0">
                  <a:solidFill>
                    <a:schemeClr val="bg1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Google</a:t>
              </a:r>
              <a:br>
                <a:rPr lang="de-CH" sz="2200" b="1" dirty="0">
                  <a:solidFill>
                    <a:schemeClr val="bg1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</a:br>
              <a:r>
                <a:rPr lang="de-CH" sz="2200" b="1" dirty="0">
                  <a:solidFill>
                    <a:schemeClr val="bg1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Material Design</a:t>
              </a:r>
              <a:br>
                <a:rPr lang="de-CH" sz="2200" b="1" dirty="0">
                  <a:solidFill>
                    <a:schemeClr val="bg1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</a:br>
              <a:r>
                <a:rPr lang="de-CH" sz="2200" b="1" dirty="0">
                  <a:solidFill>
                    <a:schemeClr val="bg1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V2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5870911" y="7860370"/>
              <a:ext cx="2729757" cy="272975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de-CH" sz="2200" b="1" dirty="0">
                  <a:solidFill>
                    <a:schemeClr val="bg1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Angular Material</a:t>
              </a:r>
            </a:p>
            <a:p>
              <a:pPr algn="ctr"/>
              <a:r>
                <a:rPr lang="de-CH" sz="2200" b="1" dirty="0">
                  <a:solidFill>
                    <a:schemeClr val="bg1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V2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18549664" y="7860370"/>
              <a:ext cx="2728800" cy="27288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de-CH" sz="2200" b="1" dirty="0" err="1">
                  <a:solidFill>
                    <a:srgbClr val="171717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Application</a:t>
              </a:r>
              <a:endParaRPr lang="de-CH" sz="2200" b="1" dirty="0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endParaRPr>
            </a:p>
          </p:txBody>
        </p:sp>
        <p:cxnSp>
          <p:nvCxnSpPr>
            <p:cNvPr id="15" name="Straight Arrow Connector 14"/>
            <p:cNvCxnSpPr>
              <a:stCxn id="13" idx="2"/>
              <a:endCxn id="12" idx="6"/>
            </p:cNvCxnSpPr>
            <p:nvPr/>
          </p:nvCxnSpPr>
          <p:spPr>
            <a:xfrm flipH="1" flipV="1">
              <a:off x="3887157" y="9224770"/>
              <a:ext cx="1983754" cy="479"/>
            </a:xfrm>
            <a:prstGeom prst="straightConnector1">
              <a:avLst/>
            </a:prstGeom>
            <a:ln w="63500">
              <a:solidFill>
                <a:srgbClr val="FF0000"/>
              </a:solidFill>
              <a:headEnd type="oval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/>
            <p:cNvSpPr/>
            <p:nvPr/>
          </p:nvSpPr>
          <p:spPr>
            <a:xfrm>
              <a:off x="1201572" y="11648386"/>
              <a:ext cx="2728800" cy="27288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de-CH" sz="2200" b="1" dirty="0">
                  <a:solidFill>
                    <a:schemeClr val="bg1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Google</a:t>
              </a:r>
              <a:br>
                <a:rPr lang="de-CH" sz="2200" b="1" dirty="0">
                  <a:solidFill>
                    <a:schemeClr val="bg1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</a:br>
              <a:r>
                <a:rPr lang="de-CH" sz="2200" b="1" dirty="0">
                  <a:solidFill>
                    <a:schemeClr val="bg1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Material Design</a:t>
              </a:r>
              <a:br>
                <a:rPr lang="de-CH" sz="2200" b="1" dirty="0">
                  <a:solidFill>
                    <a:schemeClr val="bg1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</a:br>
              <a:r>
                <a:rPr lang="de-CH" sz="2200" b="1" dirty="0">
                  <a:solidFill>
                    <a:schemeClr val="bg1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V3</a:t>
              </a:r>
              <a:br>
                <a:rPr lang="de-CH" sz="2200" b="1" dirty="0">
                  <a:solidFill>
                    <a:schemeClr val="bg1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</a:br>
              <a:r>
                <a:rPr lang="de-CH" sz="2200" b="1" dirty="0">
                  <a:solidFill>
                    <a:schemeClr val="bg1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(Accessor)</a:t>
              </a:r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>
              <a:off x="2459586" y="14556574"/>
              <a:ext cx="1512704" cy="0"/>
            </a:xfrm>
            <a:prstGeom prst="straightConnector1">
              <a:avLst/>
            </a:prstGeom>
            <a:ln w="63500">
              <a:noFill/>
              <a:headEnd type="oval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Isosceles Triangle 17"/>
            <p:cNvSpPr/>
            <p:nvPr/>
          </p:nvSpPr>
          <p:spPr>
            <a:xfrm rot="10800000">
              <a:off x="2257290" y="11014441"/>
              <a:ext cx="662755" cy="372986"/>
            </a:xfrm>
            <a:prstGeom prst="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cxnSp>
          <p:nvCxnSpPr>
            <p:cNvPr id="19" name="Straight Arrow Connector 18"/>
            <p:cNvCxnSpPr>
              <a:stCxn id="11" idx="3"/>
              <a:endCxn id="29" idx="7"/>
            </p:cNvCxnSpPr>
            <p:nvPr/>
          </p:nvCxnSpPr>
          <p:spPr>
            <a:xfrm flipH="1">
              <a:off x="8202553" y="10192012"/>
              <a:ext cx="4529342" cy="4365754"/>
            </a:xfrm>
            <a:prstGeom prst="straightConnector1">
              <a:avLst/>
            </a:prstGeom>
            <a:ln w="63500">
              <a:solidFill>
                <a:srgbClr val="FF0000"/>
              </a:solidFill>
              <a:headEnd type="oval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9" idx="4"/>
              <a:endCxn id="11" idx="0"/>
            </p:cNvCxnSpPr>
            <p:nvPr/>
          </p:nvCxnSpPr>
          <p:spPr>
            <a:xfrm>
              <a:off x="13697693" y="5362188"/>
              <a:ext cx="0" cy="2498182"/>
            </a:xfrm>
            <a:prstGeom prst="straightConnector1">
              <a:avLst/>
            </a:prstGeom>
            <a:ln w="63500">
              <a:solidFill>
                <a:srgbClr val="FF0000"/>
              </a:solidFill>
              <a:headEnd type="oval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/>
            <p:cNvSpPr/>
            <p:nvPr/>
          </p:nvSpPr>
          <p:spPr>
            <a:xfrm>
              <a:off x="20881194" y="3686620"/>
              <a:ext cx="2728800" cy="27288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de-CH" sz="2200" b="1" dirty="0">
                  <a:solidFill>
                    <a:srgbClr val="171717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Custom</a:t>
              </a:r>
              <a:br>
                <a:rPr lang="de-CH" sz="2200" b="1" dirty="0">
                  <a:solidFill>
                    <a:srgbClr val="171717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</a:br>
              <a:r>
                <a:rPr lang="de-CH" sz="2200" b="1" dirty="0">
                  <a:solidFill>
                    <a:srgbClr val="171717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UX </a:t>
              </a:r>
              <a:r>
                <a:rPr lang="de-CH" sz="2200" b="1" dirty="0" err="1">
                  <a:solidFill>
                    <a:srgbClr val="171717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Architecture</a:t>
              </a:r>
              <a:endParaRPr lang="de-CH" sz="2200" b="1" dirty="0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22" name="Oval 21"/>
            <p:cNvSpPr/>
            <p:nvPr/>
          </p:nvSpPr>
          <p:spPr>
            <a:xfrm>
              <a:off x="16861190" y="14160608"/>
              <a:ext cx="2728800" cy="27288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de-CH" sz="2200" b="1" dirty="0">
                  <a:solidFill>
                    <a:schemeClr val="tx1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Custom</a:t>
              </a:r>
              <a:br>
                <a:rPr lang="de-CH" sz="2200" b="1" dirty="0">
                  <a:solidFill>
                    <a:schemeClr val="tx1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</a:br>
              <a:r>
                <a:rPr lang="de-CH" sz="2200" b="1" dirty="0">
                  <a:solidFill>
                    <a:schemeClr val="tx1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Components</a:t>
              </a:r>
            </a:p>
          </p:txBody>
        </p:sp>
        <p:sp>
          <p:nvSpPr>
            <p:cNvPr id="23" name="Oval 22"/>
            <p:cNvSpPr/>
            <p:nvPr/>
          </p:nvSpPr>
          <p:spPr>
            <a:xfrm>
              <a:off x="20597441" y="14160608"/>
              <a:ext cx="2728800" cy="27288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de-CH" sz="2200" b="1" dirty="0">
                  <a:solidFill>
                    <a:schemeClr val="tx1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Custom</a:t>
              </a:r>
              <a:br>
                <a:rPr lang="de-CH" sz="2200" b="1" dirty="0">
                  <a:solidFill>
                    <a:schemeClr val="tx1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</a:br>
              <a:r>
                <a:rPr lang="de-CH" sz="2200" b="1" dirty="0">
                  <a:solidFill>
                    <a:schemeClr val="tx1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CSS</a:t>
              </a:r>
            </a:p>
          </p:txBody>
        </p:sp>
        <p:cxnSp>
          <p:nvCxnSpPr>
            <p:cNvPr id="24" name="Straight Arrow Connector 23"/>
            <p:cNvCxnSpPr>
              <a:stCxn id="21" idx="3"/>
              <a:endCxn id="14" idx="0"/>
            </p:cNvCxnSpPr>
            <p:nvPr/>
          </p:nvCxnSpPr>
          <p:spPr>
            <a:xfrm flipH="1">
              <a:off x="19914064" y="6015796"/>
              <a:ext cx="1366754" cy="1844574"/>
            </a:xfrm>
            <a:prstGeom prst="straightConnector1">
              <a:avLst/>
            </a:prstGeom>
            <a:ln w="63500">
              <a:solidFill>
                <a:srgbClr val="FF0000"/>
              </a:solidFill>
              <a:headEnd type="oval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>
              <a:stCxn id="22" idx="0"/>
              <a:endCxn id="14" idx="4"/>
            </p:cNvCxnSpPr>
            <p:nvPr/>
          </p:nvCxnSpPr>
          <p:spPr>
            <a:xfrm flipV="1">
              <a:off x="18225590" y="10589170"/>
              <a:ext cx="1688474" cy="3571438"/>
            </a:xfrm>
            <a:prstGeom prst="straightConnector1">
              <a:avLst/>
            </a:prstGeom>
            <a:ln w="63500">
              <a:solidFill>
                <a:srgbClr val="FF0000"/>
              </a:solidFill>
              <a:headEnd type="oval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stCxn id="23" idx="0"/>
              <a:endCxn id="14" idx="4"/>
            </p:cNvCxnSpPr>
            <p:nvPr/>
          </p:nvCxnSpPr>
          <p:spPr>
            <a:xfrm flipH="1" flipV="1">
              <a:off x="19914064" y="10589170"/>
              <a:ext cx="2047777" cy="3571438"/>
            </a:xfrm>
            <a:prstGeom prst="straightConnector1">
              <a:avLst/>
            </a:prstGeom>
            <a:ln w="63500">
              <a:solidFill>
                <a:srgbClr val="FF0000"/>
              </a:solidFill>
              <a:headEnd type="oval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13" idx="0"/>
              <a:endCxn id="10" idx="4"/>
            </p:cNvCxnSpPr>
            <p:nvPr/>
          </p:nvCxnSpPr>
          <p:spPr>
            <a:xfrm flipH="1" flipV="1">
              <a:off x="7203299" y="5210368"/>
              <a:ext cx="32491" cy="2650002"/>
            </a:xfrm>
            <a:prstGeom prst="straightConnector1">
              <a:avLst/>
            </a:prstGeom>
            <a:ln w="63500">
              <a:solidFill>
                <a:srgbClr val="FF0000"/>
              </a:solidFill>
              <a:headEnd type="oval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Oval 27"/>
            <p:cNvSpPr/>
            <p:nvPr/>
          </p:nvSpPr>
          <p:spPr>
            <a:xfrm>
              <a:off x="12331848" y="12110397"/>
              <a:ext cx="2731689" cy="27316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de-CH" sz="2200" b="1" dirty="0" err="1">
                  <a:solidFill>
                    <a:srgbClr val="171717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Oblique</a:t>
              </a:r>
              <a:br>
                <a:rPr lang="de-CH" sz="2200" b="1" dirty="0">
                  <a:solidFill>
                    <a:srgbClr val="171717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</a:br>
              <a:r>
                <a:rPr lang="de-CH" sz="2200" b="1" dirty="0">
                  <a:solidFill>
                    <a:srgbClr val="171717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Master Layout</a:t>
              </a:r>
            </a:p>
          </p:txBody>
        </p:sp>
        <p:sp>
          <p:nvSpPr>
            <p:cNvPr id="29" name="Oval 28"/>
            <p:cNvSpPr/>
            <p:nvPr/>
          </p:nvSpPr>
          <p:spPr>
            <a:xfrm>
              <a:off x="5870911" y="14157719"/>
              <a:ext cx="2731689" cy="273168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de-CH" sz="2200" b="1" dirty="0">
                  <a:solidFill>
                    <a:schemeClr val="bg1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Angular Material API</a:t>
              </a:r>
            </a:p>
          </p:txBody>
        </p:sp>
        <p:cxnSp>
          <p:nvCxnSpPr>
            <p:cNvPr id="30" name="Straight Arrow Connector 29"/>
            <p:cNvCxnSpPr>
              <a:stCxn id="11" idx="2"/>
              <a:endCxn id="13" idx="6"/>
            </p:cNvCxnSpPr>
            <p:nvPr/>
          </p:nvCxnSpPr>
          <p:spPr>
            <a:xfrm flipH="1" flipV="1">
              <a:off x="8600668" y="9225249"/>
              <a:ext cx="3731180" cy="966"/>
            </a:xfrm>
            <a:prstGeom prst="straightConnector1">
              <a:avLst/>
            </a:prstGeom>
            <a:ln w="63500">
              <a:solidFill>
                <a:srgbClr val="FF0000"/>
              </a:solidFill>
              <a:headEnd type="oval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>
              <a:endCxn id="13" idx="7"/>
            </p:cNvCxnSpPr>
            <p:nvPr/>
          </p:nvCxnSpPr>
          <p:spPr>
            <a:xfrm flipH="1">
              <a:off x="8200904" y="7800889"/>
              <a:ext cx="1217399" cy="459245"/>
            </a:xfrm>
            <a:prstGeom prst="straightConnector1">
              <a:avLst/>
            </a:prstGeom>
            <a:ln w="63500">
              <a:solidFill>
                <a:srgbClr val="FF0000"/>
              </a:solidFill>
              <a:headEnd type="oval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stCxn id="9" idx="3"/>
              <a:endCxn id="35" idx="7"/>
            </p:cNvCxnSpPr>
            <p:nvPr/>
          </p:nvCxnSpPr>
          <p:spPr>
            <a:xfrm flipH="1">
              <a:off x="11373643" y="4962141"/>
              <a:ext cx="1358252" cy="1069288"/>
            </a:xfrm>
            <a:prstGeom prst="straightConnector1">
              <a:avLst/>
            </a:prstGeom>
            <a:ln w="63500">
              <a:solidFill>
                <a:srgbClr val="FF0000"/>
              </a:solidFill>
              <a:headEnd type="oval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13" idx="4"/>
              <a:endCxn id="29" idx="0"/>
            </p:cNvCxnSpPr>
            <p:nvPr/>
          </p:nvCxnSpPr>
          <p:spPr>
            <a:xfrm>
              <a:off x="7235790" y="10590127"/>
              <a:ext cx="966" cy="3567592"/>
            </a:xfrm>
            <a:prstGeom prst="straightConnector1">
              <a:avLst/>
            </a:prstGeom>
            <a:ln w="63500">
              <a:solidFill>
                <a:srgbClr val="FF0000"/>
              </a:solidFill>
              <a:headEnd type="oval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>
              <a:stCxn id="11" idx="1"/>
              <a:endCxn id="10" idx="5"/>
            </p:cNvCxnSpPr>
            <p:nvPr/>
          </p:nvCxnSpPr>
          <p:spPr>
            <a:xfrm flipH="1" flipV="1">
              <a:off x="8168075" y="4810744"/>
              <a:ext cx="4563820" cy="3449673"/>
            </a:xfrm>
            <a:prstGeom prst="straightConnector1">
              <a:avLst/>
            </a:prstGeom>
            <a:ln w="63500">
              <a:solidFill>
                <a:srgbClr val="FF0000"/>
              </a:solidFill>
              <a:headEnd type="oval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34"/>
            <p:cNvSpPr/>
            <p:nvPr/>
          </p:nvSpPr>
          <p:spPr>
            <a:xfrm>
              <a:off x="9043650" y="5631665"/>
              <a:ext cx="2729757" cy="272975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de-CH" sz="2200" b="1" dirty="0">
                  <a:solidFill>
                    <a:schemeClr val="bg1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Angular Material</a:t>
              </a:r>
            </a:p>
            <a:p>
              <a:pPr algn="ctr"/>
              <a:r>
                <a:rPr lang="de-CH" sz="2200" b="1" dirty="0">
                  <a:solidFill>
                    <a:schemeClr val="bg1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CSS</a:t>
              </a:r>
            </a:p>
          </p:txBody>
        </p:sp>
        <p:cxnSp>
          <p:nvCxnSpPr>
            <p:cNvPr id="36" name="Straight Arrow Connector 35"/>
            <p:cNvCxnSpPr>
              <a:stCxn id="28" idx="0"/>
              <a:endCxn id="11" idx="4"/>
            </p:cNvCxnSpPr>
            <p:nvPr/>
          </p:nvCxnSpPr>
          <p:spPr>
            <a:xfrm flipV="1">
              <a:off x="13697693" y="10592059"/>
              <a:ext cx="0" cy="1518338"/>
            </a:xfrm>
            <a:prstGeom prst="straightConnector1">
              <a:avLst/>
            </a:prstGeom>
            <a:ln w="63500">
              <a:solidFill>
                <a:srgbClr val="FF0000"/>
              </a:solidFill>
              <a:headEnd type="oval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/>
            <p:cNvSpPr/>
            <p:nvPr/>
          </p:nvSpPr>
          <p:spPr>
            <a:xfrm>
              <a:off x="16833342" y="4093609"/>
              <a:ext cx="2731689" cy="27316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de-CH" sz="2200" b="1" dirty="0" err="1">
                  <a:solidFill>
                    <a:srgbClr val="171717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Oblique</a:t>
              </a:r>
              <a:br>
                <a:rPr lang="de-CH" sz="2200" b="1" dirty="0">
                  <a:solidFill>
                    <a:srgbClr val="171717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</a:br>
              <a:r>
                <a:rPr lang="de-CH" sz="2200" b="1" dirty="0">
                  <a:solidFill>
                    <a:srgbClr val="171717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Custom Components</a:t>
              </a:r>
            </a:p>
          </p:txBody>
        </p:sp>
        <p:sp>
          <p:nvSpPr>
            <p:cNvPr id="38" name="Oval 37"/>
            <p:cNvSpPr/>
            <p:nvPr/>
          </p:nvSpPr>
          <p:spPr>
            <a:xfrm>
              <a:off x="15753182" y="1327644"/>
              <a:ext cx="2731689" cy="27316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de-CH" sz="2200" b="1" dirty="0" err="1">
                  <a:solidFill>
                    <a:srgbClr val="171717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Oblique</a:t>
              </a:r>
              <a:br>
                <a:rPr lang="de-CH" sz="2200" b="1" dirty="0">
                  <a:solidFill>
                    <a:srgbClr val="171717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</a:br>
              <a:r>
                <a:rPr lang="de-CH" sz="2200" b="1" dirty="0">
                  <a:solidFill>
                    <a:srgbClr val="171717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Services</a:t>
              </a:r>
            </a:p>
          </p:txBody>
        </p:sp>
        <p:cxnSp>
          <p:nvCxnSpPr>
            <p:cNvPr id="39" name="Straight Arrow Connector 38"/>
            <p:cNvCxnSpPr>
              <a:stCxn id="37" idx="3"/>
              <a:endCxn id="11" idx="6"/>
            </p:cNvCxnSpPr>
            <p:nvPr/>
          </p:nvCxnSpPr>
          <p:spPr>
            <a:xfrm flipH="1">
              <a:off x="15063537" y="6425251"/>
              <a:ext cx="2169852" cy="2800964"/>
            </a:xfrm>
            <a:prstGeom prst="straightConnector1">
              <a:avLst/>
            </a:prstGeom>
            <a:ln w="63500">
              <a:solidFill>
                <a:srgbClr val="FF0000"/>
              </a:solidFill>
              <a:headEnd type="oval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stCxn id="38" idx="3"/>
              <a:endCxn id="11" idx="7"/>
            </p:cNvCxnSpPr>
            <p:nvPr/>
          </p:nvCxnSpPr>
          <p:spPr>
            <a:xfrm flipH="1">
              <a:off x="14663490" y="3659286"/>
              <a:ext cx="1489739" cy="4601131"/>
            </a:xfrm>
            <a:prstGeom prst="straightConnector1">
              <a:avLst/>
            </a:prstGeom>
            <a:ln w="63500">
              <a:solidFill>
                <a:srgbClr val="FF0000"/>
              </a:solidFill>
              <a:headEnd type="oval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>
              <a:stCxn id="14" idx="2"/>
              <a:endCxn id="11" idx="6"/>
            </p:cNvCxnSpPr>
            <p:nvPr/>
          </p:nvCxnSpPr>
          <p:spPr>
            <a:xfrm flipH="1">
              <a:off x="15063537" y="9224770"/>
              <a:ext cx="3486127" cy="1445"/>
            </a:xfrm>
            <a:prstGeom prst="straightConnector1">
              <a:avLst/>
            </a:prstGeom>
            <a:ln w="63500">
              <a:solidFill>
                <a:srgbClr val="FF0000"/>
              </a:solidFill>
              <a:headEnd type="oval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>
              <a:stCxn id="14" idx="1"/>
              <a:endCxn id="10" idx="6"/>
            </p:cNvCxnSpPr>
            <p:nvPr/>
          </p:nvCxnSpPr>
          <p:spPr>
            <a:xfrm flipH="1" flipV="1">
              <a:off x="8567699" y="3845968"/>
              <a:ext cx="10381589" cy="4414026"/>
            </a:xfrm>
            <a:prstGeom prst="straightConnector1">
              <a:avLst/>
            </a:prstGeom>
            <a:ln w="63500">
              <a:solidFill>
                <a:srgbClr val="FF0000"/>
              </a:solidFill>
              <a:headEnd type="oval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stCxn id="22" idx="2"/>
              <a:endCxn id="29" idx="6"/>
            </p:cNvCxnSpPr>
            <p:nvPr/>
          </p:nvCxnSpPr>
          <p:spPr>
            <a:xfrm flipH="1" flipV="1">
              <a:off x="8602600" y="15523564"/>
              <a:ext cx="8258590" cy="1444"/>
            </a:xfrm>
            <a:prstGeom prst="straightConnector1">
              <a:avLst/>
            </a:prstGeom>
            <a:ln w="63500">
              <a:solidFill>
                <a:srgbClr val="FF0000"/>
              </a:solidFill>
              <a:headEnd type="oval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Oval 43"/>
            <p:cNvSpPr/>
            <p:nvPr/>
          </p:nvSpPr>
          <p:spPr>
            <a:xfrm>
              <a:off x="1224268" y="14740448"/>
              <a:ext cx="2728800" cy="27288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de-CH" sz="2200" b="1" dirty="0">
                  <a:solidFill>
                    <a:schemeClr val="bg1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Google</a:t>
              </a:r>
              <a:br>
                <a:rPr lang="de-CH" sz="2200" b="1" dirty="0">
                  <a:solidFill>
                    <a:schemeClr val="bg1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</a:br>
              <a:r>
                <a:rPr lang="de-CH" sz="2200" b="1" dirty="0">
                  <a:solidFill>
                    <a:schemeClr val="bg1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Web Components</a:t>
              </a:r>
              <a:br>
                <a:rPr lang="de-CH" sz="2200" b="1" dirty="0">
                  <a:solidFill>
                    <a:schemeClr val="bg1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</a:br>
              <a:r>
                <a:rPr lang="de-CH" sz="2200" b="1" dirty="0" err="1">
                  <a:solidFill>
                    <a:schemeClr val="bg1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Flutter</a:t>
              </a:r>
              <a:br>
                <a:rPr lang="de-CH" sz="2200" b="1" dirty="0">
                  <a:solidFill>
                    <a:schemeClr val="bg1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</a:br>
              <a:r>
                <a:rPr lang="de-CH" sz="2200" b="1" dirty="0">
                  <a:solidFill>
                    <a:schemeClr val="bg1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Android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114398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E1203B35-A81E-2544-A59E-1EDEA9378665}"/>
              </a:ext>
            </a:extLst>
          </p:cNvPr>
          <p:cNvSpPr/>
          <p:nvPr/>
        </p:nvSpPr>
        <p:spPr>
          <a:xfrm>
            <a:off x="719998" y="720331"/>
            <a:ext cx="23760000" cy="165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8ADE017-FBF0-4F41-B231-462DFFDA63CD}"/>
              </a:ext>
            </a:extLst>
          </p:cNvPr>
          <p:cNvSpPr/>
          <p:nvPr/>
        </p:nvSpPr>
        <p:spPr>
          <a:xfrm>
            <a:off x="719998" y="720331"/>
            <a:ext cx="23760000" cy="165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0" tIns="612000" rIns="1080000" bIns="1080000" rtlCol="0" anchor="t"/>
          <a:lstStyle/>
          <a:p>
            <a:pPr>
              <a:lnSpc>
                <a:spcPts val="10000"/>
              </a:lnSpc>
            </a:pPr>
            <a:r>
              <a:rPr lang="de-DE" sz="8400" b="1" spc="-150" dirty="0" err="1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Quadrel</a:t>
            </a:r>
            <a:r>
              <a:rPr lang="de-DE" sz="8400" b="1" spc="-15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– Technische Abhängigkeiten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2297712" y="3730563"/>
            <a:ext cx="20604551" cy="12783383"/>
            <a:chOff x="2092927" y="2674280"/>
            <a:chExt cx="20604551" cy="12783383"/>
          </a:xfrm>
        </p:grpSpPr>
        <p:sp>
          <p:nvSpPr>
            <p:cNvPr id="46" name="Oval 45"/>
            <p:cNvSpPr/>
            <p:nvPr/>
          </p:nvSpPr>
          <p:spPr>
            <a:xfrm>
              <a:off x="15384698" y="2674280"/>
              <a:ext cx="2731689" cy="27316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de-CH" sz="2200" b="1" dirty="0" err="1">
                  <a:solidFill>
                    <a:srgbClr val="171717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Quadrel</a:t>
              </a:r>
              <a:r>
                <a:rPr lang="de-CH" sz="2200" b="1" dirty="0">
                  <a:solidFill>
                    <a:srgbClr val="171717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Components</a:t>
              </a:r>
            </a:p>
          </p:txBody>
        </p:sp>
        <p:sp>
          <p:nvSpPr>
            <p:cNvPr id="47" name="Oval 46"/>
            <p:cNvSpPr/>
            <p:nvPr/>
          </p:nvSpPr>
          <p:spPr>
            <a:xfrm>
              <a:off x="8050785" y="2865097"/>
              <a:ext cx="2732400" cy="27324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de-CH" sz="2200" b="1" dirty="0">
                  <a:solidFill>
                    <a:schemeClr val="bg1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Angular V13</a:t>
              </a:r>
            </a:p>
          </p:txBody>
        </p:sp>
        <p:sp>
          <p:nvSpPr>
            <p:cNvPr id="48" name="Oval 47"/>
            <p:cNvSpPr/>
            <p:nvPr/>
          </p:nvSpPr>
          <p:spPr>
            <a:xfrm>
              <a:off x="8050785" y="8087741"/>
              <a:ext cx="2731689" cy="27316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de-CH" sz="2200" b="1" dirty="0" err="1">
                  <a:solidFill>
                    <a:schemeClr val="tx1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Quadrel</a:t>
              </a:r>
              <a:endParaRPr lang="de-CH" sz="2200" b="1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endParaRPr>
            </a:p>
            <a:p>
              <a:pPr algn="ctr"/>
              <a:r>
                <a:rPr lang="de-CH" sz="2200" b="1" dirty="0">
                  <a:solidFill>
                    <a:schemeClr val="tx1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V2</a:t>
              </a:r>
            </a:p>
          </p:txBody>
        </p:sp>
        <p:sp>
          <p:nvSpPr>
            <p:cNvPr id="49" name="Oval 48"/>
            <p:cNvSpPr/>
            <p:nvPr/>
          </p:nvSpPr>
          <p:spPr>
            <a:xfrm>
              <a:off x="2092927" y="8087741"/>
              <a:ext cx="2732400" cy="273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de-CH" sz="2200" b="1" dirty="0" err="1">
                  <a:solidFill>
                    <a:schemeClr val="tx1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Quadrel</a:t>
              </a:r>
              <a:r>
                <a:rPr lang="de-CH" sz="2200" b="1" dirty="0">
                  <a:solidFill>
                    <a:schemeClr val="tx1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UX Architektur</a:t>
              </a:r>
            </a:p>
          </p:txBody>
        </p:sp>
        <p:sp>
          <p:nvSpPr>
            <p:cNvPr id="50" name="Oval 49"/>
            <p:cNvSpPr/>
            <p:nvPr/>
          </p:nvSpPr>
          <p:spPr>
            <a:xfrm>
              <a:off x="19965078" y="8087741"/>
              <a:ext cx="2732400" cy="2732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de-CH" sz="2200" b="1" dirty="0" err="1">
                  <a:solidFill>
                    <a:srgbClr val="171717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Application</a:t>
              </a:r>
              <a:endParaRPr lang="de-CH" sz="2200" b="1" dirty="0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endParaRPr>
            </a:p>
          </p:txBody>
        </p:sp>
        <p:cxnSp>
          <p:nvCxnSpPr>
            <p:cNvPr id="51" name="Straight Arrow Connector 50"/>
            <p:cNvCxnSpPr/>
            <p:nvPr/>
          </p:nvCxnSpPr>
          <p:spPr>
            <a:xfrm>
              <a:off x="2459586" y="14556574"/>
              <a:ext cx="1512704" cy="0"/>
            </a:xfrm>
            <a:prstGeom prst="straightConnector1">
              <a:avLst/>
            </a:prstGeom>
            <a:ln w="63500">
              <a:noFill/>
              <a:headEnd type="oval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>
              <a:stCxn id="59" idx="0"/>
              <a:endCxn id="48" idx="4"/>
            </p:cNvCxnSpPr>
            <p:nvPr/>
          </p:nvCxnSpPr>
          <p:spPr>
            <a:xfrm flipV="1">
              <a:off x="9416630" y="10819430"/>
              <a:ext cx="0" cy="1906544"/>
            </a:xfrm>
            <a:prstGeom prst="straightConnector1">
              <a:avLst/>
            </a:prstGeom>
            <a:ln w="63500">
              <a:solidFill>
                <a:srgbClr val="FF0000"/>
              </a:solidFill>
              <a:headEnd type="oval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>
              <a:stCxn id="48" idx="2"/>
              <a:endCxn id="49" idx="6"/>
            </p:cNvCxnSpPr>
            <p:nvPr/>
          </p:nvCxnSpPr>
          <p:spPr>
            <a:xfrm flipH="1">
              <a:off x="4825327" y="9453586"/>
              <a:ext cx="3225458" cy="355"/>
            </a:xfrm>
            <a:prstGeom prst="straightConnector1">
              <a:avLst/>
            </a:prstGeom>
            <a:ln w="63500">
              <a:solidFill>
                <a:srgbClr val="FF0000"/>
              </a:solidFill>
              <a:headEnd type="oval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>
              <a:stCxn id="48" idx="0"/>
              <a:endCxn id="47" idx="4"/>
            </p:cNvCxnSpPr>
            <p:nvPr/>
          </p:nvCxnSpPr>
          <p:spPr>
            <a:xfrm flipV="1">
              <a:off x="9416630" y="5597497"/>
              <a:ext cx="355" cy="2490244"/>
            </a:xfrm>
            <a:prstGeom prst="straightConnector1">
              <a:avLst/>
            </a:prstGeom>
            <a:ln w="63500">
              <a:solidFill>
                <a:srgbClr val="FF0000"/>
              </a:solidFill>
              <a:headEnd type="oval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Oval 54"/>
            <p:cNvSpPr/>
            <p:nvPr/>
          </p:nvSpPr>
          <p:spPr>
            <a:xfrm>
              <a:off x="19965078" y="2674281"/>
              <a:ext cx="2731689" cy="27316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de-CH" sz="2200" b="1" dirty="0" err="1">
                  <a:solidFill>
                    <a:srgbClr val="171717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Quadrel</a:t>
              </a:r>
              <a:r>
                <a:rPr lang="de-CH" sz="2200" b="1" dirty="0">
                  <a:solidFill>
                    <a:srgbClr val="171717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Services</a:t>
              </a:r>
            </a:p>
          </p:txBody>
        </p:sp>
        <p:cxnSp>
          <p:nvCxnSpPr>
            <p:cNvPr id="56" name="Straight Arrow Connector 55"/>
            <p:cNvCxnSpPr>
              <a:endCxn id="48" idx="7"/>
            </p:cNvCxnSpPr>
            <p:nvPr/>
          </p:nvCxnSpPr>
          <p:spPr>
            <a:xfrm flipH="1">
              <a:off x="10382427" y="5101687"/>
              <a:ext cx="5494727" cy="3386101"/>
            </a:xfrm>
            <a:prstGeom prst="straightConnector1">
              <a:avLst/>
            </a:prstGeom>
            <a:ln w="63500">
              <a:solidFill>
                <a:srgbClr val="FF0000"/>
              </a:solidFill>
              <a:headEnd type="oval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>
              <a:stCxn id="55" idx="4"/>
              <a:endCxn id="50" idx="0"/>
            </p:cNvCxnSpPr>
            <p:nvPr/>
          </p:nvCxnSpPr>
          <p:spPr>
            <a:xfrm>
              <a:off x="21330923" y="5405970"/>
              <a:ext cx="355" cy="2681771"/>
            </a:xfrm>
            <a:prstGeom prst="straightConnector1">
              <a:avLst/>
            </a:prstGeom>
            <a:ln w="63500">
              <a:solidFill>
                <a:srgbClr val="FF0000"/>
              </a:solidFill>
              <a:headEnd type="oval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>
              <a:stCxn id="50" idx="2"/>
              <a:endCxn id="61" idx="6"/>
            </p:cNvCxnSpPr>
            <p:nvPr/>
          </p:nvCxnSpPr>
          <p:spPr>
            <a:xfrm flipH="1" flipV="1">
              <a:off x="16739621" y="9453586"/>
              <a:ext cx="3225457" cy="355"/>
            </a:xfrm>
            <a:prstGeom prst="straightConnector1">
              <a:avLst/>
            </a:prstGeom>
            <a:ln w="63500">
              <a:solidFill>
                <a:srgbClr val="FF0000"/>
              </a:solidFill>
              <a:headEnd type="oval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Oval 58"/>
            <p:cNvSpPr/>
            <p:nvPr/>
          </p:nvSpPr>
          <p:spPr>
            <a:xfrm>
              <a:off x="8050785" y="12725974"/>
              <a:ext cx="2731689" cy="27316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de-CH" sz="2200" b="1" dirty="0" err="1">
                  <a:solidFill>
                    <a:schemeClr val="tx1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Quadrel</a:t>
              </a:r>
              <a:r>
                <a:rPr lang="de-CH" sz="2200" b="1" dirty="0">
                  <a:solidFill>
                    <a:schemeClr val="tx1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CSS</a:t>
              </a:r>
            </a:p>
            <a:p>
              <a:pPr algn="ctr"/>
              <a:r>
                <a:rPr lang="de-CH" sz="2200" b="1" dirty="0">
                  <a:solidFill>
                    <a:schemeClr val="tx1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CSS</a:t>
              </a:r>
            </a:p>
          </p:txBody>
        </p:sp>
        <p:cxnSp>
          <p:nvCxnSpPr>
            <p:cNvPr id="60" name="Straight Arrow Connector 59"/>
            <p:cNvCxnSpPr>
              <a:stCxn id="50" idx="1"/>
              <a:endCxn id="47" idx="6"/>
            </p:cNvCxnSpPr>
            <p:nvPr/>
          </p:nvCxnSpPr>
          <p:spPr>
            <a:xfrm flipH="1" flipV="1">
              <a:off x="10783185" y="4231297"/>
              <a:ext cx="9582044" cy="4256595"/>
            </a:xfrm>
            <a:prstGeom prst="straightConnector1">
              <a:avLst/>
            </a:prstGeom>
            <a:ln w="63500">
              <a:solidFill>
                <a:srgbClr val="FF0000"/>
              </a:solidFill>
              <a:headEnd type="oval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Oval 60"/>
            <p:cNvSpPr/>
            <p:nvPr/>
          </p:nvSpPr>
          <p:spPr>
            <a:xfrm>
              <a:off x="14007932" y="8087741"/>
              <a:ext cx="2731689" cy="27316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de-CH" sz="2200" b="1" dirty="0" err="1">
                  <a:solidFill>
                    <a:schemeClr val="tx1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Quadrel</a:t>
              </a:r>
              <a:r>
                <a:rPr lang="de-CH" sz="2200" b="1" dirty="0">
                  <a:solidFill>
                    <a:schemeClr val="tx1"/>
                  </a:solidFill>
                  <a:latin typeface="Arial" panose="020B0604020202020204" pitchFamily="34" charset="0"/>
                  <a:ea typeface="Roboto" panose="02000000000000000000" pitchFamily="2" charset="0"/>
                  <a:cs typeface="Arial" panose="020B0604020202020204" pitchFamily="34" charset="0"/>
                </a:rPr>
                <a:t> API</a:t>
              </a:r>
            </a:p>
          </p:txBody>
        </p:sp>
        <p:cxnSp>
          <p:nvCxnSpPr>
            <p:cNvPr id="62" name="Straight Arrow Connector 61"/>
            <p:cNvCxnSpPr>
              <a:stCxn id="61" idx="2"/>
              <a:endCxn id="48" idx="6"/>
            </p:cNvCxnSpPr>
            <p:nvPr/>
          </p:nvCxnSpPr>
          <p:spPr>
            <a:xfrm flipH="1">
              <a:off x="10782474" y="9453586"/>
              <a:ext cx="3225458" cy="0"/>
            </a:xfrm>
            <a:prstGeom prst="straightConnector1">
              <a:avLst/>
            </a:prstGeom>
            <a:ln w="63500">
              <a:solidFill>
                <a:srgbClr val="FF0000"/>
              </a:solidFill>
              <a:headEnd type="oval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>
              <a:stCxn id="55" idx="3"/>
              <a:endCxn id="48" idx="6"/>
            </p:cNvCxnSpPr>
            <p:nvPr/>
          </p:nvCxnSpPr>
          <p:spPr>
            <a:xfrm flipH="1">
              <a:off x="10782474" y="5005923"/>
              <a:ext cx="9582651" cy="4447663"/>
            </a:xfrm>
            <a:prstGeom prst="straightConnector1">
              <a:avLst/>
            </a:prstGeom>
            <a:ln w="63500">
              <a:solidFill>
                <a:srgbClr val="FF0000"/>
              </a:solidFill>
              <a:prstDash val="dash"/>
              <a:headEnd type="oval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Oval 23"/>
          <p:cNvSpPr/>
          <p:nvPr/>
        </p:nvSpPr>
        <p:spPr>
          <a:xfrm>
            <a:off x="12072716" y="3801013"/>
            <a:ext cx="2731689" cy="273168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CH" sz="2200" b="1" dirty="0" err="1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Quadrel</a:t>
            </a:r>
            <a:r>
              <a:rPr lang="de-CH" sz="2200" b="1" dirty="0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Patterns</a:t>
            </a:r>
          </a:p>
        </p:txBody>
      </p:sp>
      <p:cxnSp>
        <p:nvCxnSpPr>
          <p:cNvPr id="25" name="Straight Arrow Connector 24"/>
          <p:cNvCxnSpPr>
            <a:endCxn id="48" idx="7"/>
          </p:cNvCxnSpPr>
          <p:nvPr/>
        </p:nvCxnSpPr>
        <p:spPr>
          <a:xfrm flipH="1">
            <a:off x="10587212" y="6228420"/>
            <a:ext cx="1977961" cy="3315651"/>
          </a:xfrm>
          <a:prstGeom prst="straightConnector1">
            <a:avLst/>
          </a:prstGeom>
          <a:ln w="63500">
            <a:solidFill>
              <a:srgbClr val="FF0000"/>
            </a:solidFill>
            <a:headEnd type="oval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15736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E1203B35-A81E-2544-A59E-1EDEA9378665}"/>
              </a:ext>
            </a:extLst>
          </p:cNvPr>
          <p:cNvSpPr/>
          <p:nvPr/>
        </p:nvSpPr>
        <p:spPr>
          <a:xfrm>
            <a:off x="719998" y="720331"/>
            <a:ext cx="23760000" cy="165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0" tIns="612000" rIns="1080000" bIns="10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de-DE" sz="8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Iterative Optimierung der UI-Patterns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8ADE017-FBF0-4F41-B231-462DFFDA63CD}"/>
              </a:ext>
            </a:extLst>
          </p:cNvPr>
          <p:cNvSpPr/>
          <p:nvPr/>
        </p:nvSpPr>
        <p:spPr>
          <a:xfrm>
            <a:off x="719998" y="720331"/>
            <a:ext cx="23760000" cy="165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0" rIns="720000" bIns="720000" rtlCol="0" anchor="t"/>
          <a:lstStyle/>
          <a:p>
            <a:pPr>
              <a:lnSpc>
                <a:spcPts val="10000"/>
              </a:lnSpc>
            </a:pPr>
            <a:endParaRPr lang="de-DE" sz="4000" b="1" spc="-150" dirty="0">
              <a:solidFill>
                <a:schemeClr val="tx1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9433045" y="3799491"/>
            <a:ext cx="12954000" cy="12542122"/>
            <a:chOff x="4855029" y="2710278"/>
            <a:chExt cx="14348814" cy="13892587"/>
          </a:xfrm>
        </p:grpSpPr>
        <p:pic>
          <p:nvPicPr>
            <p:cNvPr id="16" name="Grafik 15">
              <a:extLst>
                <a:ext uri="{FF2B5EF4-FFF2-40B4-BE49-F238E27FC236}">
                  <a16:creationId xmlns:a16="http://schemas.microsoft.com/office/drawing/2014/main" id="{8F53045A-4905-154E-880F-8C4610B6A4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25405" y="2710278"/>
              <a:ext cx="12308457" cy="11798639"/>
            </a:xfrm>
            <a:prstGeom prst="rect">
              <a:avLst/>
            </a:prstGeom>
          </p:spPr>
        </p:pic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B94F7590-CA4B-8C42-A108-FD5A82554D8B}"/>
                </a:ext>
              </a:extLst>
            </p:cNvPr>
            <p:cNvSpPr/>
            <p:nvPr/>
          </p:nvSpPr>
          <p:spPr>
            <a:xfrm>
              <a:off x="6995252" y="3463089"/>
              <a:ext cx="10629900" cy="106299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endParaRPr lang="de-DE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046B31F4-3B79-9346-AAE6-97A97F6FAB17}"/>
                </a:ext>
              </a:extLst>
            </p:cNvPr>
            <p:cNvSpPr/>
            <p:nvPr/>
          </p:nvSpPr>
          <p:spPr>
            <a:xfrm>
              <a:off x="4855029" y="3589394"/>
              <a:ext cx="3916800" cy="3916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3600" dirty="0">
                  <a:latin typeface="Arial" panose="020B0604020202020204" pitchFamily="34" charset="0"/>
                  <a:cs typeface="Arial" panose="020B0604020202020204" pitchFamily="34" charset="0"/>
                </a:rPr>
                <a:t>BUILD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55BFDC5-38E9-C540-A032-9AA7519F77C2}"/>
                </a:ext>
              </a:extLst>
            </p:cNvPr>
            <p:cNvSpPr/>
            <p:nvPr/>
          </p:nvSpPr>
          <p:spPr>
            <a:xfrm>
              <a:off x="15287106" y="3931034"/>
              <a:ext cx="3916737" cy="391673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de-DE" sz="3600" dirty="0">
                  <a:latin typeface="Arial" panose="020B0604020202020204" pitchFamily="34" charset="0"/>
                  <a:cs typeface="Arial" panose="020B0604020202020204" pitchFamily="34" charset="0"/>
                </a:rPr>
                <a:t>CONSUME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A619BB6-A3F1-F344-9B99-20AD9A700867}"/>
                </a:ext>
              </a:extLst>
            </p:cNvPr>
            <p:cNvSpPr/>
            <p:nvPr/>
          </p:nvSpPr>
          <p:spPr>
            <a:xfrm>
              <a:off x="10351802" y="12686065"/>
              <a:ext cx="3916800" cy="3916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r"/>
              <a:r>
                <a:rPr lang="de-DE" sz="3600" dirty="0">
                  <a:latin typeface="Arial" panose="020B0604020202020204" pitchFamily="34" charset="0"/>
                  <a:cs typeface="Arial" panose="020B0604020202020204" pitchFamily="34" charset="0"/>
                </a:rPr>
                <a:t>EVALUATE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CE1A40C-63DF-324C-9437-926BE06C8E0F}"/>
                </a:ext>
              </a:extLst>
            </p:cNvPr>
            <p:cNvSpPr/>
            <p:nvPr/>
          </p:nvSpPr>
          <p:spPr>
            <a:xfrm>
              <a:off x="8710202" y="5178039"/>
              <a:ext cx="7200000" cy="720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de-DE" sz="4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3CD5199-F90B-A442-A8A3-50FAD191252A}"/>
                </a:ext>
              </a:extLst>
            </p:cNvPr>
            <p:cNvSpPr/>
            <p:nvPr/>
          </p:nvSpPr>
          <p:spPr>
            <a:xfrm>
              <a:off x="10510202" y="3900822"/>
              <a:ext cx="3600000" cy="84814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de-DE" sz="24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QUADREL-UI</a:t>
              </a:r>
              <a:endParaRPr lang="de-DE" sz="2400" b="1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5A31AF43-BE98-D842-B819-C4306B41E73F}"/>
                </a:ext>
              </a:extLst>
            </p:cNvPr>
            <p:cNvSpPr/>
            <p:nvPr/>
          </p:nvSpPr>
          <p:spPr>
            <a:xfrm>
              <a:off x="10510202" y="5548230"/>
              <a:ext cx="3600000" cy="84814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de-DE" sz="24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PATTERNS</a:t>
              </a:r>
              <a:endParaRPr lang="de-DE" sz="2400" b="1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49C1453-0FE4-714E-9D72-017F270FE64B}"/>
                </a:ext>
              </a:extLst>
            </p:cNvPr>
            <p:cNvSpPr/>
            <p:nvPr/>
          </p:nvSpPr>
          <p:spPr>
            <a:xfrm>
              <a:off x="9580141" y="6834939"/>
              <a:ext cx="1390650" cy="139065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3200" dirty="0">
                  <a:latin typeface="Arial" panose="020B0604020202020204" pitchFamily="34" charset="0"/>
                  <a:cs typeface="Arial" panose="020B0604020202020204" pitchFamily="34" charset="0"/>
                </a:rPr>
                <a:t>P1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5C2D553-65AD-4A4E-986A-DE8EE02B295C}"/>
                </a:ext>
              </a:extLst>
            </p:cNvPr>
            <p:cNvSpPr/>
            <p:nvPr/>
          </p:nvSpPr>
          <p:spPr>
            <a:xfrm>
              <a:off x="9190589" y="8523665"/>
              <a:ext cx="2162526" cy="216252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3200" dirty="0">
                  <a:latin typeface="Arial" panose="020B0604020202020204" pitchFamily="34" charset="0"/>
                  <a:cs typeface="Arial" panose="020B0604020202020204" pitchFamily="34" charset="0"/>
                </a:rPr>
                <a:t>P2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536879D-AB18-CF47-A2E6-D9A13F502112}"/>
                </a:ext>
              </a:extLst>
            </p:cNvPr>
            <p:cNvSpPr/>
            <p:nvPr/>
          </p:nvSpPr>
          <p:spPr>
            <a:xfrm>
              <a:off x="11134410" y="6531920"/>
              <a:ext cx="2542550" cy="254255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3200" dirty="0">
                  <a:latin typeface="Arial" panose="020B0604020202020204" pitchFamily="34" charset="0"/>
                  <a:cs typeface="Arial" panose="020B0604020202020204" pitchFamily="34" charset="0"/>
                </a:rPr>
                <a:t>P3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5A2CE9E-3FBB-0549-8203-1CE0221B67AE}"/>
                </a:ext>
              </a:extLst>
            </p:cNvPr>
            <p:cNvSpPr/>
            <p:nvPr/>
          </p:nvSpPr>
          <p:spPr>
            <a:xfrm>
              <a:off x="11739854" y="9291801"/>
              <a:ext cx="2656422" cy="2656422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3200" dirty="0">
                  <a:latin typeface="Arial" panose="020B0604020202020204" pitchFamily="34" charset="0"/>
                  <a:cs typeface="Arial" panose="020B0604020202020204" pitchFamily="34" charset="0"/>
                </a:rPr>
                <a:t>P…</a:t>
              </a:r>
              <a:r>
                <a:rPr lang="de-DE" sz="3200" dirty="0" err="1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endParaRPr lang="de-DE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C978E27-894C-7B4D-AE17-293E3C35ED04}"/>
                </a:ext>
              </a:extLst>
            </p:cNvPr>
            <p:cNvSpPr/>
            <p:nvPr/>
          </p:nvSpPr>
          <p:spPr>
            <a:xfrm>
              <a:off x="13969273" y="7558014"/>
              <a:ext cx="1390650" cy="139065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3200" dirty="0">
                  <a:latin typeface="Arial" panose="020B0604020202020204" pitchFamily="34" charset="0"/>
                  <a:cs typeface="Arial" panose="020B0604020202020204" pitchFamily="34" charset="0"/>
                </a:rPr>
                <a:t>P4</a:t>
              </a:r>
            </a:p>
          </p:txBody>
        </p:sp>
      </p:grpSp>
      <p:sp>
        <p:nvSpPr>
          <p:cNvPr id="18" name="Rechteck 3">
            <a:extLst>
              <a:ext uri="{FF2B5EF4-FFF2-40B4-BE49-F238E27FC236}">
                <a16:creationId xmlns:a16="http://schemas.microsoft.com/office/drawing/2014/main" id="{E1203B35-A81E-2544-A59E-1EDEA9378665}"/>
              </a:ext>
            </a:extLst>
          </p:cNvPr>
          <p:cNvSpPr/>
          <p:nvPr/>
        </p:nvSpPr>
        <p:spPr>
          <a:xfrm>
            <a:off x="719998" y="3865233"/>
            <a:ext cx="13086107" cy="124763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0" tIns="0" rIns="108000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r>
              <a:rPr lang="de-DE" sz="4400" b="1" spc="-15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Zentrale Verwaltung aller Patterns</a:t>
            </a:r>
          </a:p>
          <a:p>
            <a:r>
              <a:rPr lang="de-DE" sz="4400" b="1" spc="-15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durch </a:t>
            </a:r>
            <a:r>
              <a:rPr lang="de-DE" sz="4400" b="1" spc="-150" dirty="0" err="1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Quadrel</a:t>
            </a:r>
            <a:endParaRPr lang="de-DE" sz="4400" spc="-150" dirty="0">
              <a:solidFill>
                <a:schemeClr val="tx1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r>
              <a:rPr lang="de-DE" sz="4400" spc="-15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Alle zukünftige Leistungen an dem Pattern stehen immer wieder alle Projekte zur Verfügung. (Mehrwert für alle).</a:t>
            </a:r>
          </a:p>
        </p:txBody>
      </p:sp>
    </p:spTree>
    <p:extLst>
      <p:ext uri="{BB962C8B-B14F-4D97-AF65-F5344CB8AC3E}">
        <p14:creationId xmlns:p14="http://schemas.microsoft.com/office/powerpoint/2010/main" val="42160247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E1203B35-A81E-2544-A59E-1EDEA9378665}"/>
              </a:ext>
            </a:extLst>
          </p:cNvPr>
          <p:cNvSpPr/>
          <p:nvPr/>
        </p:nvSpPr>
        <p:spPr>
          <a:xfrm>
            <a:off x="719998" y="720331"/>
            <a:ext cx="23760000" cy="165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0" tIns="612000" rIns="1080000" bIns="10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de-DE" sz="8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Konsistentes Benutzererlebnis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8ADE017-FBF0-4F41-B231-462DFFDA63CD}"/>
              </a:ext>
            </a:extLst>
          </p:cNvPr>
          <p:cNvSpPr/>
          <p:nvPr/>
        </p:nvSpPr>
        <p:spPr>
          <a:xfrm>
            <a:off x="719998" y="720331"/>
            <a:ext cx="23760000" cy="165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0" rIns="720000" bIns="720000" rtlCol="0" anchor="t"/>
          <a:lstStyle/>
          <a:p>
            <a:pPr>
              <a:lnSpc>
                <a:spcPts val="10000"/>
              </a:lnSpc>
            </a:pPr>
            <a:endParaRPr lang="de-DE" sz="4000" b="1" spc="-150" dirty="0">
              <a:solidFill>
                <a:schemeClr val="tx1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6702" y="3376357"/>
            <a:ext cx="21762424" cy="5027414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6702" y="9059473"/>
            <a:ext cx="21881474" cy="2000324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6702" y="11672227"/>
            <a:ext cx="21881474" cy="3622599"/>
          </a:xfrm>
          <a:prstGeom prst="rect">
            <a:avLst/>
          </a:prstGeom>
        </p:spPr>
      </p:pic>
      <p:sp>
        <p:nvSpPr>
          <p:cNvPr id="22" name="Rechteck 3">
            <a:extLst>
              <a:ext uri="{FF2B5EF4-FFF2-40B4-BE49-F238E27FC236}">
                <a16:creationId xmlns:a16="http://schemas.microsoft.com/office/drawing/2014/main" id="{E1203B35-A81E-2544-A59E-1EDEA9378665}"/>
              </a:ext>
            </a:extLst>
          </p:cNvPr>
          <p:cNvSpPr/>
          <p:nvPr/>
        </p:nvSpPr>
        <p:spPr>
          <a:xfrm>
            <a:off x="719998" y="15468994"/>
            <a:ext cx="13086107" cy="10467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0" tIns="0" rIns="108000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r>
              <a:rPr lang="de-DE" sz="4400" spc="-15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  <a:hlinkClick r:id="rId5"/>
              </a:rPr>
              <a:t>Beispiele Integration (</a:t>
            </a:r>
            <a:r>
              <a:rPr lang="de-DE" sz="4400" spc="-150" dirty="0" err="1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  <a:hlinkClick r:id="rId5"/>
              </a:rPr>
              <a:t>Camiuns</a:t>
            </a:r>
            <a:r>
              <a:rPr lang="de-DE" sz="4400" spc="-15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  <a:hlinkClick r:id="rId5"/>
              </a:rPr>
              <a:t>)</a:t>
            </a:r>
            <a:endParaRPr lang="de-DE" sz="4400" spc="-150" dirty="0">
              <a:solidFill>
                <a:schemeClr val="tx1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41597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E1203B35-A81E-2544-A59E-1EDEA9378665}"/>
              </a:ext>
            </a:extLst>
          </p:cNvPr>
          <p:cNvSpPr/>
          <p:nvPr/>
        </p:nvSpPr>
        <p:spPr>
          <a:xfrm>
            <a:off x="719998" y="720331"/>
            <a:ext cx="23760000" cy="165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0" tIns="612000" rIns="1080000" bIns="10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de-DE" sz="8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Verlagerung der Aufwände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8ADE017-FBF0-4F41-B231-462DFFDA63CD}"/>
              </a:ext>
            </a:extLst>
          </p:cNvPr>
          <p:cNvSpPr/>
          <p:nvPr/>
        </p:nvSpPr>
        <p:spPr>
          <a:xfrm>
            <a:off x="719998" y="720331"/>
            <a:ext cx="23760000" cy="165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0" rIns="720000" bIns="720000" rtlCol="0" anchor="t"/>
          <a:lstStyle/>
          <a:p>
            <a:pPr>
              <a:lnSpc>
                <a:spcPts val="10000"/>
              </a:lnSpc>
            </a:pPr>
            <a:endParaRPr lang="de-DE" sz="4000" b="1" spc="-150" dirty="0">
              <a:solidFill>
                <a:schemeClr val="tx1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0" name="Rechteck 32">
            <a:extLst>
              <a:ext uri="{FF2B5EF4-FFF2-40B4-BE49-F238E27FC236}">
                <a16:creationId xmlns:a16="http://schemas.microsoft.com/office/drawing/2014/main" id="{7608F371-E072-0342-89D8-0947B4B98BF0}"/>
              </a:ext>
            </a:extLst>
          </p:cNvPr>
          <p:cNvSpPr/>
          <p:nvPr/>
        </p:nvSpPr>
        <p:spPr>
          <a:xfrm>
            <a:off x="1908312" y="9088010"/>
            <a:ext cx="4974351" cy="631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r>
              <a:rPr lang="de-DE" sz="2400" dirty="0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Projektverlauf</a:t>
            </a:r>
          </a:p>
        </p:txBody>
      </p:sp>
      <p:pic>
        <p:nvPicPr>
          <p:cNvPr id="21" name="Grafik 1">
            <a:extLst>
              <a:ext uri="{FF2B5EF4-FFF2-40B4-BE49-F238E27FC236}">
                <a16:creationId xmlns:a16="http://schemas.microsoft.com/office/drawing/2014/main" id="{52B2FE41-2064-F540-9955-FFFFD328A65D}"/>
              </a:ext>
            </a:extLst>
          </p:cNvPr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908312" y="4904462"/>
            <a:ext cx="20160000" cy="4142755"/>
          </a:xfrm>
          <a:prstGeom prst="rect">
            <a:avLst/>
          </a:prstGeom>
          <a:ln>
            <a:noFill/>
          </a:ln>
        </p:spPr>
      </p:pic>
      <p:pic>
        <p:nvPicPr>
          <p:cNvPr id="22" name="Grafik 2">
            <a:extLst>
              <a:ext uri="{FF2B5EF4-FFF2-40B4-BE49-F238E27FC236}">
                <a16:creationId xmlns:a16="http://schemas.microsoft.com/office/drawing/2014/main" id="{71526FB0-51A1-2D41-B828-A0729EF7F6BB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908311" y="11294152"/>
            <a:ext cx="20160000" cy="4142755"/>
          </a:xfrm>
          <a:prstGeom prst="rect">
            <a:avLst/>
          </a:prstGeom>
          <a:ln>
            <a:noFill/>
          </a:ln>
        </p:spPr>
      </p:pic>
      <p:sp>
        <p:nvSpPr>
          <p:cNvPr id="23" name="Rechteck 23">
            <a:extLst>
              <a:ext uri="{FF2B5EF4-FFF2-40B4-BE49-F238E27FC236}">
                <a16:creationId xmlns:a16="http://schemas.microsoft.com/office/drawing/2014/main" id="{B73D1FA8-D79D-7548-942B-54B0D8D00CB7}"/>
              </a:ext>
            </a:extLst>
          </p:cNvPr>
          <p:cNvSpPr/>
          <p:nvPr/>
        </p:nvSpPr>
        <p:spPr>
          <a:xfrm rot="16200000">
            <a:off x="-431963" y="6695474"/>
            <a:ext cx="4127487" cy="57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de-DE" sz="2400" dirty="0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Aufwand</a:t>
            </a:r>
          </a:p>
        </p:txBody>
      </p:sp>
      <p:sp>
        <p:nvSpPr>
          <p:cNvPr id="24" name="Rechteck 24">
            <a:extLst>
              <a:ext uri="{FF2B5EF4-FFF2-40B4-BE49-F238E27FC236}">
                <a16:creationId xmlns:a16="http://schemas.microsoft.com/office/drawing/2014/main" id="{F72EF4BD-E02C-794D-A330-4CCC85846014}"/>
              </a:ext>
            </a:extLst>
          </p:cNvPr>
          <p:cNvSpPr/>
          <p:nvPr/>
        </p:nvSpPr>
        <p:spPr>
          <a:xfrm>
            <a:off x="1908312" y="4121429"/>
            <a:ext cx="4974351" cy="631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de-DE" sz="3200" b="1" dirty="0" err="1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Managed</a:t>
            </a:r>
            <a:r>
              <a:rPr lang="de-DE" sz="3200" b="1" dirty="0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UI</a:t>
            </a:r>
          </a:p>
        </p:txBody>
      </p:sp>
      <p:sp>
        <p:nvSpPr>
          <p:cNvPr id="25" name="Rechteck 26">
            <a:extLst>
              <a:ext uri="{FF2B5EF4-FFF2-40B4-BE49-F238E27FC236}">
                <a16:creationId xmlns:a16="http://schemas.microsoft.com/office/drawing/2014/main" id="{BCA8AD1E-F34A-5B48-B69D-C5B097BE900D}"/>
              </a:ext>
            </a:extLst>
          </p:cNvPr>
          <p:cNvSpPr/>
          <p:nvPr/>
        </p:nvSpPr>
        <p:spPr>
          <a:xfrm rot="16200000">
            <a:off x="-493207" y="13088231"/>
            <a:ext cx="4164161" cy="57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de-DE" sz="2400" dirty="0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Aufwand</a:t>
            </a:r>
          </a:p>
        </p:txBody>
      </p:sp>
      <p:sp>
        <p:nvSpPr>
          <p:cNvPr id="26" name="Rechteck 27">
            <a:extLst>
              <a:ext uri="{FF2B5EF4-FFF2-40B4-BE49-F238E27FC236}">
                <a16:creationId xmlns:a16="http://schemas.microsoft.com/office/drawing/2014/main" id="{ED0A5201-76C5-904A-8532-2A657B83972E}"/>
              </a:ext>
            </a:extLst>
          </p:cNvPr>
          <p:cNvSpPr/>
          <p:nvPr/>
        </p:nvSpPr>
        <p:spPr>
          <a:xfrm>
            <a:off x="1908312" y="10498307"/>
            <a:ext cx="4974351" cy="631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de-DE" sz="3200" b="1" dirty="0" err="1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Unmanaged</a:t>
            </a:r>
            <a:r>
              <a:rPr lang="de-DE" sz="3200" b="1" dirty="0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UI</a:t>
            </a:r>
          </a:p>
        </p:txBody>
      </p:sp>
      <p:cxnSp>
        <p:nvCxnSpPr>
          <p:cNvPr id="27" name="Gerade Verbindung 4">
            <a:extLst>
              <a:ext uri="{FF2B5EF4-FFF2-40B4-BE49-F238E27FC236}">
                <a16:creationId xmlns:a16="http://schemas.microsoft.com/office/drawing/2014/main" id="{FA2542A5-591C-0D48-8380-1BBC68445D81}"/>
              </a:ext>
            </a:extLst>
          </p:cNvPr>
          <p:cNvCxnSpPr>
            <a:cxnSpLocks/>
          </p:cNvCxnSpPr>
          <p:nvPr/>
        </p:nvCxnSpPr>
        <p:spPr>
          <a:xfrm>
            <a:off x="10654748" y="6602402"/>
            <a:ext cx="11946208" cy="0"/>
          </a:xfrm>
          <a:prstGeom prst="line">
            <a:avLst/>
          </a:prstGeom>
          <a:ln w="9525">
            <a:solidFill>
              <a:schemeClr val="tx1"/>
            </a:solidFill>
            <a:prstDash val="dash"/>
            <a:headEnd type="oval" w="lg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34">
            <a:extLst>
              <a:ext uri="{FF2B5EF4-FFF2-40B4-BE49-F238E27FC236}">
                <a16:creationId xmlns:a16="http://schemas.microsoft.com/office/drawing/2014/main" id="{DA68CDA3-2C1F-554E-A6F5-F9C5EC127EE7}"/>
              </a:ext>
            </a:extLst>
          </p:cNvPr>
          <p:cNvCxnSpPr>
            <a:cxnSpLocks/>
          </p:cNvCxnSpPr>
          <p:nvPr/>
        </p:nvCxnSpPr>
        <p:spPr>
          <a:xfrm>
            <a:off x="12684712" y="7858722"/>
            <a:ext cx="9916244" cy="0"/>
          </a:xfrm>
          <a:prstGeom prst="line">
            <a:avLst/>
          </a:prstGeom>
          <a:ln w="9525">
            <a:solidFill>
              <a:schemeClr val="tx1"/>
            </a:solidFill>
            <a:prstDash val="dash"/>
            <a:headEnd type="oval" w="lg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35">
            <a:extLst>
              <a:ext uri="{FF2B5EF4-FFF2-40B4-BE49-F238E27FC236}">
                <a16:creationId xmlns:a16="http://schemas.microsoft.com/office/drawing/2014/main" id="{BEC02A8C-54DF-E047-B686-79C999DB10D1}"/>
              </a:ext>
            </a:extLst>
          </p:cNvPr>
          <p:cNvCxnSpPr>
            <a:cxnSpLocks/>
          </p:cNvCxnSpPr>
          <p:nvPr/>
        </p:nvCxnSpPr>
        <p:spPr>
          <a:xfrm>
            <a:off x="11669364" y="7219669"/>
            <a:ext cx="10931592" cy="0"/>
          </a:xfrm>
          <a:prstGeom prst="line">
            <a:avLst/>
          </a:prstGeom>
          <a:ln w="9525">
            <a:solidFill>
              <a:schemeClr val="tx1"/>
            </a:solidFill>
            <a:prstDash val="dash"/>
            <a:headEnd type="oval" w="lg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hteck 40">
            <a:extLst>
              <a:ext uri="{FF2B5EF4-FFF2-40B4-BE49-F238E27FC236}">
                <a16:creationId xmlns:a16="http://schemas.microsoft.com/office/drawing/2014/main" id="{2346E980-8F9E-9642-B697-DEB9F3995F94}"/>
              </a:ext>
            </a:extLst>
          </p:cNvPr>
          <p:cNvSpPr/>
          <p:nvPr/>
        </p:nvSpPr>
        <p:spPr>
          <a:xfrm>
            <a:off x="22860853" y="6317149"/>
            <a:ext cx="1935940" cy="570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de-DE" sz="2000" dirty="0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Projekt 1</a:t>
            </a:r>
          </a:p>
        </p:txBody>
      </p:sp>
      <p:sp>
        <p:nvSpPr>
          <p:cNvPr id="31" name="Rechteck 41">
            <a:extLst>
              <a:ext uri="{FF2B5EF4-FFF2-40B4-BE49-F238E27FC236}">
                <a16:creationId xmlns:a16="http://schemas.microsoft.com/office/drawing/2014/main" id="{F207C160-83C8-584A-944D-A4335FF93615}"/>
              </a:ext>
            </a:extLst>
          </p:cNvPr>
          <p:cNvSpPr/>
          <p:nvPr/>
        </p:nvSpPr>
        <p:spPr>
          <a:xfrm>
            <a:off x="22860852" y="6934417"/>
            <a:ext cx="1935940" cy="570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de-DE" sz="2000" dirty="0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Projekt 2</a:t>
            </a:r>
          </a:p>
        </p:txBody>
      </p:sp>
      <p:sp>
        <p:nvSpPr>
          <p:cNvPr id="32" name="Rechteck 42">
            <a:extLst>
              <a:ext uri="{FF2B5EF4-FFF2-40B4-BE49-F238E27FC236}">
                <a16:creationId xmlns:a16="http://schemas.microsoft.com/office/drawing/2014/main" id="{C113B09C-D975-0548-B08F-00CC5414D5AF}"/>
              </a:ext>
            </a:extLst>
          </p:cNvPr>
          <p:cNvSpPr/>
          <p:nvPr/>
        </p:nvSpPr>
        <p:spPr>
          <a:xfrm>
            <a:off x="22860851" y="7573469"/>
            <a:ext cx="1935940" cy="570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de-DE" sz="2000" dirty="0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Projekt 3</a:t>
            </a:r>
          </a:p>
        </p:txBody>
      </p:sp>
      <p:cxnSp>
        <p:nvCxnSpPr>
          <p:cNvPr id="33" name="Gerade Verbindung 43">
            <a:extLst>
              <a:ext uri="{FF2B5EF4-FFF2-40B4-BE49-F238E27FC236}">
                <a16:creationId xmlns:a16="http://schemas.microsoft.com/office/drawing/2014/main" id="{CDF6E44F-5B3A-1E46-8412-35B07865A50F}"/>
              </a:ext>
            </a:extLst>
          </p:cNvPr>
          <p:cNvCxnSpPr>
            <a:cxnSpLocks/>
          </p:cNvCxnSpPr>
          <p:nvPr/>
        </p:nvCxnSpPr>
        <p:spPr>
          <a:xfrm>
            <a:off x="16498918" y="11921165"/>
            <a:ext cx="6102038" cy="0"/>
          </a:xfrm>
          <a:prstGeom prst="line">
            <a:avLst/>
          </a:prstGeom>
          <a:ln w="9525">
            <a:solidFill>
              <a:schemeClr val="tx1"/>
            </a:solidFill>
            <a:prstDash val="dash"/>
            <a:headEnd type="oval" w="lg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44">
            <a:extLst>
              <a:ext uri="{FF2B5EF4-FFF2-40B4-BE49-F238E27FC236}">
                <a16:creationId xmlns:a16="http://schemas.microsoft.com/office/drawing/2014/main" id="{1AE51AD2-9EC1-B04F-A010-683040B117EF}"/>
              </a:ext>
            </a:extLst>
          </p:cNvPr>
          <p:cNvCxnSpPr>
            <a:cxnSpLocks/>
          </p:cNvCxnSpPr>
          <p:nvPr/>
        </p:nvCxnSpPr>
        <p:spPr>
          <a:xfrm>
            <a:off x="19002991" y="13177485"/>
            <a:ext cx="3597965" cy="0"/>
          </a:xfrm>
          <a:prstGeom prst="line">
            <a:avLst/>
          </a:prstGeom>
          <a:ln w="9525">
            <a:solidFill>
              <a:schemeClr val="tx1"/>
            </a:solidFill>
            <a:prstDash val="dash"/>
            <a:headEnd type="oval" w="lg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45">
            <a:extLst>
              <a:ext uri="{FF2B5EF4-FFF2-40B4-BE49-F238E27FC236}">
                <a16:creationId xmlns:a16="http://schemas.microsoft.com/office/drawing/2014/main" id="{87BABA09-2838-5F4B-80B8-A5714F085D76}"/>
              </a:ext>
            </a:extLst>
          </p:cNvPr>
          <p:cNvCxnSpPr>
            <a:cxnSpLocks/>
          </p:cNvCxnSpPr>
          <p:nvPr/>
        </p:nvCxnSpPr>
        <p:spPr>
          <a:xfrm>
            <a:off x="18765078" y="12538432"/>
            <a:ext cx="3835878" cy="0"/>
          </a:xfrm>
          <a:prstGeom prst="line">
            <a:avLst/>
          </a:prstGeom>
          <a:ln w="9525">
            <a:solidFill>
              <a:schemeClr val="tx1"/>
            </a:solidFill>
            <a:prstDash val="dash"/>
            <a:headEnd type="oval" w="lg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hteck 46">
            <a:extLst>
              <a:ext uri="{FF2B5EF4-FFF2-40B4-BE49-F238E27FC236}">
                <a16:creationId xmlns:a16="http://schemas.microsoft.com/office/drawing/2014/main" id="{BF80BA69-14E6-8B4F-B357-8D983C9BCFCC}"/>
              </a:ext>
            </a:extLst>
          </p:cNvPr>
          <p:cNvSpPr/>
          <p:nvPr/>
        </p:nvSpPr>
        <p:spPr>
          <a:xfrm>
            <a:off x="22860853" y="11635912"/>
            <a:ext cx="1935940" cy="570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de-DE" sz="2000" dirty="0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Projekt 1</a:t>
            </a:r>
          </a:p>
        </p:txBody>
      </p:sp>
      <p:sp>
        <p:nvSpPr>
          <p:cNvPr id="37" name="Rechteck 47">
            <a:extLst>
              <a:ext uri="{FF2B5EF4-FFF2-40B4-BE49-F238E27FC236}">
                <a16:creationId xmlns:a16="http://schemas.microsoft.com/office/drawing/2014/main" id="{C74FA0E1-A359-114A-910B-606FDC6C9C7B}"/>
              </a:ext>
            </a:extLst>
          </p:cNvPr>
          <p:cNvSpPr/>
          <p:nvPr/>
        </p:nvSpPr>
        <p:spPr>
          <a:xfrm>
            <a:off x="22860852" y="12253180"/>
            <a:ext cx="1935940" cy="570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de-DE" sz="2000" dirty="0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Projekt 2</a:t>
            </a:r>
          </a:p>
        </p:txBody>
      </p:sp>
      <p:sp>
        <p:nvSpPr>
          <p:cNvPr id="38" name="Rechteck 49">
            <a:extLst>
              <a:ext uri="{FF2B5EF4-FFF2-40B4-BE49-F238E27FC236}">
                <a16:creationId xmlns:a16="http://schemas.microsoft.com/office/drawing/2014/main" id="{627F6973-FE8A-584D-9F51-D426128F3268}"/>
              </a:ext>
            </a:extLst>
          </p:cNvPr>
          <p:cNvSpPr/>
          <p:nvPr/>
        </p:nvSpPr>
        <p:spPr>
          <a:xfrm>
            <a:off x="22860851" y="12892232"/>
            <a:ext cx="1935940" cy="570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de-DE" sz="2000" dirty="0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Projekt 3</a:t>
            </a:r>
          </a:p>
        </p:txBody>
      </p:sp>
      <p:sp>
        <p:nvSpPr>
          <p:cNvPr id="39" name="Abgerundetes Rechteck 28">
            <a:extLst>
              <a:ext uri="{FF2B5EF4-FFF2-40B4-BE49-F238E27FC236}">
                <a16:creationId xmlns:a16="http://schemas.microsoft.com/office/drawing/2014/main" id="{ADBACE22-21CB-2C47-8E73-EAEFA725CD94}"/>
              </a:ext>
            </a:extLst>
          </p:cNvPr>
          <p:cNvSpPr/>
          <p:nvPr/>
        </p:nvSpPr>
        <p:spPr>
          <a:xfrm>
            <a:off x="4672019" y="8346286"/>
            <a:ext cx="775252" cy="43198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UX</a:t>
            </a:r>
          </a:p>
        </p:txBody>
      </p:sp>
      <p:sp>
        <p:nvSpPr>
          <p:cNvPr id="40" name="Abgerundetes Rechteck 54">
            <a:extLst>
              <a:ext uri="{FF2B5EF4-FFF2-40B4-BE49-F238E27FC236}">
                <a16:creationId xmlns:a16="http://schemas.microsoft.com/office/drawing/2014/main" id="{AEC5B714-24CB-5D43-AF2C-DB37654D2167}"/>
              </a:ext>
            </a:extLst>
          </p:cNvPr>
          <p:cNvSpPr/>
          <p:nvPr/>
        </p:nvSpPr>
        <p:spPr>
          <a:xfrm>
            <a:off x="5723803" y="8346286"/>
            <a:ext cx="775252" cy="43198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</a:t>
            </a:r>
          </a:p>
        </p:txBody>
      </p:sp>
      <p:sp>
        <p:nvSpPr>
          <p:cNvPr id="41" name="Abgerundetes Rechteck 55">
            <a:extLst>
              <a:ext uri="{FF2B5EF4-FFF2-40B4-BE49-F238E27FC236}">
                <a16:creationId xmlns:a16="http://schemas.microsoft.com/office/drawing/2014/main" id="{0F23948B-BBDF-8849-8754-CF404D47BC4F}"/>
              </a:ext>
            </a:extLst>
          </p:cNvPr>
          <p:cNvSpPr/>
          <p:nvPr/>
        </p:nvSpPr>
        <p:spPr>
          <a:xfrm>
            <a:off x="6775586" y="8302852"/>
            <a:ext cx="2074531" cy="47541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Journey</a:t>
            </a:r>
          </a:p>
        </p:txBody>
      </p:sp>
      <p:sp>
        <p:nvSpPr>
          <p:cNvPr id="42" name="Abgerundetes Rechteck 56">
            <a:extLst>
              <a:ext uri="{FF2B5EF4-FFF2-40B4-BE49-F238E27FC236}">
                <a16:creationId xmlns:a16="http://schemas.microsoft.com/office/drawing/2014/main" id="{42EE7D66-7B2E-6140-8199-E5BBCA8851F7}"/>
              </a:ext>
            </a:extLst>
          </p:cNvPr>
          <p:cNvSpPr/>
          <p:nvPr/>
        </p:nvSpPr>
        <p:spPr>
          <a:xfrm>
            <a:off x="12343623" y="8302852"/>
            <a:ext cx="2074531" cy="47541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Logik</a:t>
            </a:r>
          </a:p>
        </p:txBody>
      </p:sp>
      <p:sp>
        <p:nvSpPr>
          <p:cNvPr id="43" name="Abgerundetes Rechteck 57">
            <a:extLst>
              <a:ext uri="{FF2B5EF4-FFF2-40B4-BE49-F238E27FC236}">
                <a16:creationId xmlns:a16="http://schemas.microsoft.com/office/drawing/2014/main" id="{5E2C049C-C8ED-1445-A8D5-23627E77CE08}"/>
              </a:ext>
            </a:extLst>
          </p:cNvPr>
          <p:cNvSpPr/>
          <p:nvPr/>
        </p:nvSpPr>
        <p:spPr>
          <a:xfrm>
            <a:off x="3620235" y="8346286"/>
            <a:ext cx="775252" cy="43198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UI</a:t>
            </a:r>
          </a:p>
        </p:txBody>
      </p:sp>
      <p:sp>
        <p:nvSpPr>
          <p:cNvPr id="44" name="Abgerundetes Rechteck 59">
            <a:extLst>
              <a:ext uri="{FF2B5EF4-FFF2-40B4-BE49-F238E27FC236}">
                <a16:creationId xmlns:a16="http://schemas.microsoft.com/office/drawing/2014/main" id="{A4F4A07C-BEFB-984A-9A22-CF0F3D544A1C}"/>
              </a:ext>
            </a:extLst>
          </p:cNvPr>
          <p:cNvSpPr/>
          <p:nvPr/>
        </p:nvSpPr>
        <p:spPr>
          <a:xfrm>
            <a:off x="3620235" y="14815941"/>
            <a:ext cx="775252" cy="43198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UI</a:t>
            </a:r>
          </a:p>
        </p:txBody>
      </p:sp>
      <p:sp>
        <p:nvSpPr>
          <p:cNvPr id="45" name="Abgerundetes Rechteck 66">
            <a:extLst>
              <a:ext uri="{FF2B5EF4-FFF2-40B4-BE49-F238E27FC236}">
                <a16:creationId xmlns:a16="http://schemas.microsoft.com/office/drawing/2014/main" id="{13E1BA36-8DB5-D043-BF4A-70E3F9837A46}"/>
              </a:ext>
            </a:extLst>
          </p:cNvPr>
          <p:cNvSpPr/>
          <p:nvPr/>
        </p:nvSpPr>
        <p:spPr>
          <a:xfrm>
            <a:off x="11909460" y="14815941"/>
            <a:ext cx="775252" cy="43198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UX</a:t>
            </a:r>
          </a:p>
        </p:txBody>
      </p:sp>
      <p:sp>
        <p:nvSpPr>
          <p:cNvPr id="46" name="Abgerundetes Rechteck 67">
            <a:extLst>
              <a:ext uri="{FF2B5EF4-FFF2-40B4-BE49-F238E27FC236}">
                <a16:creationId xmlns:a16="http://schemas.microsoft.com/office/drawing/2014/main" id="{BAFCF81E-5C41-3E46-BBD0-8633A58B9F22}"/>
              </a:ext>
            </a:extLst>
          </p:cNvPr>
          <p:cNvSpPr/>
          <p:nvPr/>
        </p:nvSpPr>
        <p:spPr>
          <a:xfrm>
            <a:off x="10894112" y="14815941"/>
            <a:ext cx="775252" cy="43198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</a:t>
            </a:r>
          </a:p>
        </p:txBody>
      </p:sp>
      <p:sp>
        <p:nvSpPr>
          <p:cNvPr id="47" name="Abgerundetes Rechteck 68">
            <a:extLst>
              <a:ext uri="{FF2B5EF4-FFF2-40B4-BE49-F238E27FC236}">
                <a16:creationId xmlns:a16="http://schemas.microsoft.com/office/drawing/2014/main" id="{4EEBF9BF-E8C2-6544-A604-A6D8BBBACC35}"/>
              </a:ext>
            </a:extLst>
          </p:cNvPr>
          <p:cNvSpPr/>
          <p:nvPr/>
        </p:nvSpPr>
        <p:spPr>
          <a:xfrm>
            <a:off x="12924808" y="14772507"/>
            <a:ext cx="2074531" cy="47541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Journey</a:t>
            </a:r>
          </a:p>
        </p:txBody>
      </p:sp>
      <p:sp>
        <p:nvSpPr>
          <p:cNvPr id="48" name="Abgerundetes Rechteck 69">
            <a:extLst>
              <a:ext uri="{FF2B5EF4-FFF2-40B4-BE49-F238E27FC236}">
                <a16:creationId xmlns:a16="http://schemas.microsoft.com/office/drawing/2014/main" id="{4B3EDED2-7935-204C-832E-3540A80E6F83}"/>
              </a:ext>
            </a:extLst>
          </p:cNvPr>
          <p:cNvSpPr/>
          <p:nvPr/>
        </p:nvSpPr>
        <p:spPr>
          <a:xfrm>
            <a:off x="15239434" y="14772507"/>
            <a:ext cx="2074531" cy="47541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Logik</a:t>
            </a:r>
          </a:p>
        </p:txBody>
      </p:sp>
      <p:sp>
        <p:nvSpPr>
          <p:cNvPr id="49" name="Abgerundetes Rechteck 70">
            <a:extLst>
              <a:ext uri="{FF2B5EF4-FFF2-40B4-BE49-F238E27FC236}">
                <a16:creationId xmlns:a16="http://schemas.microsoft.com/office/drawing/2014/main" id="{B9DA6CD3-A58A-644C-A9EB-64FA2A4E6FD7}"/>
              </a:ext>
            </a:extLst>
          </p:cNvPr>
          <p:cNvSpPr/>
          <p:nvPr/>
        </p:nvSpPr>
        <p:spPr>
          <a:xfrm>
            <a:off x="9126648" y="8302852"/>
            <a:ext cx="2074531" cy="47541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Components</a:t>
            </a:r>
          </a:p>
        </p:txBody>
      </p:sp>
      <p:sp>
        <p:nvSpPr>
          <p:cNvPr id="50" name="Abgerundetes Rechteck 71">
            <a:extLst>
              <a:ext uri="{FF2B5EF4-FFF2-40B4-BE49-F238E27FC236}">
                <a16:creationId xmlns:a16="http://schemas.microsoft.com/office/drawing/2014/main" id="{167BBEC6-70CE-5047-ABD8-58C330FBC231}"/>
              </a:ext>
            </a:extLst>
          </p:cNvPr>
          <p:cNvSpPr/>
          <p:nvPr/>
        </p:nvSpPr>
        <p:spPr>
          <a:xfrm>
            <a:off x="17535041" y="14794224"/>
            <a:ext cx="1044000" cy="47541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CSS</a:t>
            </a:r>
          </a:p>
        </p:txBody>
      </p:sp>
      <p:sp>
        <p:nvSpPr>
          <p:cNvPr id="51" name="Rechteck 38">
            <a:extLst>
              <a:ext uri="{FF2B5EF4-FFF2-40B4-BE49-F238E27FC236}">
                <a16:creationId xmlns:a16="http://schemas.microsoft.com/office/drawing/2014/main" id="{F056D87F-C2D8-C844-9D70-EF5EC74909A8}"/>
              </a:ext>
            </a:extLst>
          </p:cNvPr>
          <p:cNvSpPr/>
          <p:nvPr/>
        </p:nvSpPr>
        <p:spPr>
          <a:xfrm>
            <a:off x="1933686" y="15392489"/>
            <a:ext cx="4974351" cy="631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r>
              <a:rPr lang="de-DE" sz="2400" dirty="0">
                <a:solidFill>
                  <a:srgbClr val="171717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Projektverlauf</a:t>
            </a:r>
          </a:p>
        </p:txBody>
      </p:sp>
    </p:spTree>
    <p:extLst>
      <p:ext uri="{BB962C8B-B14F-4D97-AF65-F5344CB8AC3E}">
        <p14:creationId xmlns:p14="http://schemas.microsoft.com/office/powerpoint/2010/main" val="19591484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E1203B35-A81E-2544-A59E-1EDEA9378665}"/>
              </a:ext>
            </a:extLst>
          </p:cNvPr>
          <p:cNvSpPr/>
          <p:nvPr/>
        </p:nvSpPr>
        <p:spPr>
          <a:xfrm>
            <a:off x="719998" y="720331"/>
            <a:ext cx="23760000" cy="165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0" tIns="612000" rIns="1080000" bIns="10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de-DE" sz="8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Quadrel</a:t>
            </a:r>
            <a:r>
              <a:rPr lang="de-DE" sz="8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8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Storybook</a:t>
            </a:r>
            <a:endParaRPr lang="de-DE" sz="8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8ADE017-FBF0-4F41-B231-462DFFDA63CD}"/>
              </a:ext>
            </a:extLst>
          </p:cNvPr>
          <p:cNvSpPr/>
          <p:nvPr/>
        </p:nvSpPr>
        <p:spPr>
          <a:xfrm>
            <a:off x="719998" y="720331"/>
            <a:ext cx="23760000" cy="165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0" rIns="720000" bIns="720000" rtlCol="0" anchor="t"/>
          <a:lstStyle/>
          <a:p>
            <a:pPr>
              <a:lnSpc>
                <a:spcPts val="10000"/>
              </a:lnSpc>
            </a:pPr>
            <a:endParaRPr lang="de-DE" sz="4000" b="1" spc="-150" dirty="0">
              <a:solidFill>
                <a:schemeClr val="tx1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418" y="4855029"/>
            <a:ext cx="17307892" cy="1148658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20" name="Rechteck 3">
            <a:extLst>
              <a:ext uri="{FF2B5EF4-FFF2-40B4-BE49-F238E27FC236}">
                <a16:creationId xmlns:a16="http://schemas.microsoft.com/office/drawing/2014/main" id="{E1203B35-A81E-2544-A59E-1EDEA9378665}"/>
              </a:ext>
            </a:extLst>
          </p:cNvPr>
          <p:cNvSpPr/>
          <p:nvPr/>
        </p:nvSpPr>
        <p:spPr>
          <a:xfrm>
            <a:off x="719998" y="3865233"/>
            <a:ext cx="23760000" cy="124763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0" tIns="0" rIns="108000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de-DE" sz="4400" spc="-15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Zentrale und intuitive Dokumentation aller Components und Patterns </a:t>
            </a:r>
          </a:p>
        </p:txBody>
      </p:sp>
    </p:spTree>
    <p:extLst>
      <p:ext uri="{BB962C8B-B14F-4D97-AF65-F5344CB8AC3E}">
        <p14:creationId xmlns:p14="http://schemas.microsoft.com/office/powerpoint/2010/main" val="29388919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E1203B35-A81E-2544-A59E-1EDEA9378665}"/>
              </a:ext>
            </a:extLst>
          </p:cNvPr>
          <p:cNvSpPr/>
          <p:nvPr/>
        </p:nvSpPr>
        <p:spPr>
          <a:xfrm>
            <a:off x="719998" y="720331"/>
            <a:ext cx="23760000" cy="165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0" tIns="612000" rIns="1080000" bIns="10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de-DE" sz="8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Quadrel</a:t>
            </a:r>
            <a:r>
              <a:rPr lang="de-DE" sz="8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Low-Code-Patterns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8ADE017-FBF0-4F41-B231-462DFFDA63CD}"/>
              </a:ext>
            </a:extLst>
          </p:cNvPr>
          <p:cNvSpPr/>
          <p:nvPr/>
        </p:nvSpPr>
        <p:spPr>
          <a:xfrm>
            <a:off x="719998" y="720331"/>
            <a:ext cx="23760000" cy="165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0" rIns="720000" bIns="720000" rtlCol="0" anchor="t"/>
          <a:lstStyle/>
          <a:p>
            <a:pPr>
              <a:lnSpc>
                <a:spcPts val="10000"/>
              </a:lnSpc>
            </a:pPr>
            <a:endParaRPr lang="de-DE" sz="4000" b="1" spc="-150" dirty="0">
              <a:solidFill>
                <a:schemeClr val="tx1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0" name="Rechteck 3">
            <a:extLst>
              <a:ext uri="{FF2B5EF4-FFF2-40B4-BE49-F238E27FC236}">
                <a16:creationId xmlns:a16="http://schemas.microsoft.com/office/drawing/2014/main" id="{E1203B35-A81E-2544-A59E-1EDEA9378665}"/>
              </a:ext>
            </a:extLst>
          </p:cNvPr>
          <p:cNvSpPr/>
          <p:nvPr/>
        </p:nvSpPr>
        <p:spPr>
          <a:xfrm>
            <a:off x="719998" y="3780000"/>
            <a:ext cx="23760000" cy="124763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0" tIns="0" rIns="108000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de-DE" sz="4400" spc="-15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Komplexe Pattern lassen sich vollständig über deklarative Properties steuern</a:t>
            </a:r>
          </a:p>
          <a:p>
            <a:endParaRPr lang="de-DE" sz="4400" spc="-150" dirty="0">
              <a:solidFill>
                <a:schemeClr val="tx1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de-DE" sz="4400" spc="-15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Weniger Entwicklungsaufwand durch stark vereinfachte Implementierung der Patterns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de-DE" sz="4400" spc="-15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Flache Lernkurve für die Anwendungsentwickler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de-DE" sz="4400" spc="-15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Signifikant kürze Entwicklungszeiten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de-DE" sz="4400" spc="-15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Keine Detailarbeiten nötig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de-DE" sz="4400" spc="-15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HTML-Code ist stark reduziert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de-DE" sz="4400" spc="-15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CSS entfällt vollständig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de-DE" sz="4400" spc="-15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Weniger Angular-/Frontend-Skills benötigt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de-DE" sz="4400" spc="-15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Anwendungs- statt Technik-getriebene Entwicklung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de-DE" sz="4400" spc="-15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Entwickler können sich fast vollständig auf die Business-Logik konzentrieren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de-DE" sz="4400" spc="-150" dirty="0">
              <a:solidFill>
                <a:schemeClr val="tx1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de-DE" sz="4400" spc="-150" dirty="0">
              <a:solidFill>
                <a:schemeClr val="tx1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03619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E1203B35-A81E-2544-A59E-1EDEA9378665}"/>
              </a:ext>
            </a:extLst>
          </p:cNvPr>
          <p:cNvSpPr/>
          <p:nvPr/>
        </p:nvSpPr>
        <p:spPr>
          <a:xfrm>
            <a:off x="719998" y="720331"/>
            <a:ext cx="23760000" cy="165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0" tIns="612000" rIns="1080000" bIns="10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de-DE" sz="8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Konfiguration UI-Pattern (Filter)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8ADE017-FBF0-4F41-B231-462DFFDA63CD}"/>
              </a:ext>
            </a:extLst>
          </p:cNvPr>
          <p:cNvSpPr/>
          <p:nvPr/>
        </p:nvSpPr>
        <p:spPr>
          <a:xfrm>
            <a:off x="719998" y="720331"/>
            <a:ext cx="23760000" cy="165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0" rIns="720000" bIns="720000" rtlCol="0" anchor="t"/>
          <a:lstStyle/>
          <a:p>
            <a:pPr>
              <a:lnSpc>
                <a:spcPts val="10000"/>
              </a:lnSpc>
            </a:pPr>
            <a:endParaRPr lang="de-DE" sz="4000" b="1" spc="-150" dirty="0">
              <a:solidFill>
                <a:schemeClr val="tx1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0" name="Rechteck 3">
            <a:extLst>
              <a:ext uri="{FF2B5EF4-FFF2-40B4-BE49-F238E27FC236}">
                <a16:creationId xmlns:a16="http://schemas.microsoft.com/office/drawing/2014/main" id="{E1203B35-A81E-2544-A59E-1EDEA9378665}"/>
              </a:ext>
            </a:extLst>
          </p:cNvPr>
          <p:cNvSpPr/>
          <p:nvPr/>
        </p:nvSpPr>
        <p:spPr>
          <a:xfrm>
            <a:off x="719998" y="3865233"/>
            <a:ext cx="23760000" cy="2274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0" tIns="0" rIns="108000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de-DE" sz="4400" spc="-15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Stark reduzierter HTML-Code bei der Implementierung des UI-Patterns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274" y="4865211"/>
            <a:ext cx="8848727" cy="103455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1559" y="8886044"/>
            <a:ext cx="16555812" cy="792492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7" name="Rechteck 3">
            <a:extLst>
              <a:ext uri="{FF2B5EF4-FFF2-40B4-BE49-F238E27FC236}">
                <a16:creationId xmlns:a16="http://schemas.microsoft.com/office/drawing/2014/main" id="{E1203B35-A81E-2544-A59E-1EDEA9378665}"/>
              </a:ext>
            </a:extLst>
          </p:cNvPr>
          <p:cNvSpPr/>
          <p:nvPr/>
        </p:nvSpPr>
        <p:spPr>
          <a:xfrm>
            <a:off x="719998" y="7061968"/>
            <a:ext cx="23760000" cy="2274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0" tIns="0" rIns="108000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de-DE" sz="4400" spc="-15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Funktionalität und Darstellung des UI-Patterns ist </a:t>
            </a:r>
            <a:r>
              <a:rPr lang="de-DE" sz="4400" spc="-150" dirty="0" err="1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ausschliesslich</a:t>
            </a:r>
            <a:r>
              <a:rPr lang="de-DE" sz="4400" spc="-15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von der Konfiguration abhängig</a:t>
            </a:r>
          </a:p>
        </p:txBody>
      </p:sp>
    </p:spTree>
    <p:extLst>
      <p:ext uri="{BB962C8B-B14F-4D97-AF65-F5344CB8AC3E}">
        <p14:creationId xmlns:p14="http://schemas.microsoft.com/office/powerpoint/2010/main" val="34532375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E1203B35-A81E-2544-A59E-1EDEA9378665}"/>
              </a:ext>
            </a:extLst>
          </p:cNvPr>
          <p:cNvSpPr/>
          <p:nvPr/>
        </p:nvSpPr>
        <p:spPr>
          <a:xfrm>
            <a:off x="720000" y="654685"/>
            <a:ext cx="23760000" cy="165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8ADE017-FBF0-4F41-B231-462DFFDA63CD}"/>
              </a:ext>
            </a:extLst>
          </p:cNvPr>
          <p:cNvSpPr/>
          <p:nvPr/>
        </p:nvSpPr>
        <p:spPr>
          <a:xfrm>
            <a:off x="719998" y="720331"/>
            <a:ext cx="23760000" cy="165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0" tIns="720000" rIns="1080000" bIns="1080000" rtlCol="0" anchor="t"/>
          <a:lstStyle/>
          <a:p>
            <a:pPr>
              <a:lnSpc>
                <a:spcPts val="10000"/>
              </a:lnSpc>
            </a:pPr>
            <a:r>
              <a:rPr lang="de-DE" sz="9600" b="1" spc="-150" dirty="0" err="1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Quadrel</a:t>
            </a:r>
            <a:r>
              <a:rPr lang="de-DE" sz="9600" b="1" spc="-150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in a </a:t>
            </a:r>
            <a:r>
              <a:rPr lang="de-DE" sz="9600" b="1" spc="-150" dirty="0" err="1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Nutshell</a:t>
            </a:r>
            <a:endParaRPr lang="de-DE" sz="9600" b="1" spc="-150" dirty="0">
              <a:solidFill>
                <a:schemeClr val="tx1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163563" y="7424057"/>
            <a:ext cx="20992605" cy="4310742"/>
            <a:chOff x="1419123" y="7424057"/>
            <a:chExt cx="20992605" cy="4310742"/>
          </a:xfrm>
        </p:grpSpPr>
        <p:sp>
          <p:nvSpPr>
            <p:cNvPr id="2" name="Isosceles Triangle 1"/>
            <p:cNvSpPr/>
            <p:nvPr/>
          </p:nvSpPr>
          <p:spPr>
            <a:xfrm>
              <a:off x="1419123" y="7424057"/>
              <a:ext cx="5473926" cy="4310742"/>
            </a:xfrm>
            <a:prstGeom prst="triangle">
              <a:avLst>
                <a:gd name="adj" fmla="val 4920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sz="8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Isosceles Triangle 11"/>
            <p:cNvSpPr/>
            <p:nvPr/>
          </p:nvSpPr>
          <p:spPr>
            <a:xfrm rot="10800000">
              <a:off x="5298793" y="7424057"/>
              <a:ext cx="5473926" cy="4310742"/>
            </a:xfrm>
            <a:prstGeom prst="triangle">
              <a:avLst>
                <a:gd name="adj" fmla="val 4920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dirty="0"/>
            </a:p>
          </p:txBody>
        </p:sp>
        <p:sp>
          <p:nvSpPr>
            <p:cNvPr id="14" name="Isosceles Triangle 13"/>
            <p:cNvSpPr/>
            <p:nvPr/>
          </p:nvSpPr>
          <p:spPr>
            <a:xfrm>
              <a:off x="9178463" y="7424057"/>
              <a:ext cx="5473926" cy="4310742"/>
            </a:xfrm>
            <a:prstGeom prst="triangle">
              <a:avLst>
                <a:gd name="adj" fmla="val 4920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5" name="Isosceles Triangle 14"/>
            <p:cNvSpPr/>
            <p:nvPr/>
          </p:nvSpPr>
          <p:spPr>
            <a:xfrm rot="10800000">
              <a:off x="13058133" y="7424057"/>
              <a:ext cx="5473926" cy="4310742"/>
            </a:xfrm>
            <a:prstGeom prst="triangle">
              <a:avLst>
                <a:gd name="adj" fmla="val 4920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6" name="Isosceles Triangle 15"/>
            <p:cNvSpPr/>
            <p:nvPr/>
          </p:nvSpPr>
          <p:spPr>
            <a:xfrm>
              <a:off x="16937802" y="7424057"/>
              <a:ext cx="5473926" cy="4310742"/>
            </a:xfrm>
            <a:prstGeom prst="triangle">
              <a:avLst>
                <a:gd name="adj" fmla="val 4920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sp>
        <p:nvSpPr>
          <p:cNvPr id="17" name="Rectangle 16"/>
          <p:cNvSpPr/>
          <p:nvPr/>
        </p:nvSpPr>
        <p:spPr>
          <a:xfrm>
            <a:off x="2163563" y="11734799"/>
            <a:ext cx="5473926" cy="1066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0" rIns="0" bIns="0" rtlCol="0" anchor="t"/>
          <a:lstStyle/>
          <a:p>
            <a:r>
              <a:rPr lang="de-CH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Schnelle Konzeptphase</a:t>
            </a:r>
          </a:p>
          <a:p>
            <a:r>
              <a:rPr lang="de-CH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auf Grundlage einer bestehenden UX-Architektur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43233" y="6357257"/>
            <a:ext cx="5473926" cy="1066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0" rtlCol="0" anchor="b"/>
          <a:lstStyle/>
          <a:p>
            <a:r>
              <a:rPr lang="de-CH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Grosser Funktionsumfang durch Custom-Components und -Patterns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22903" y="11734797"/>
            <a:ext cx="5573772" cy="16328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0" rIns="0" bIns="0" rtlCol="0" anchor="t"/>
          <a:lstStyle/>
          <a:p>
            <a:r>
              <a:rPr lang="de-CH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Schnelle Implementierung durch Low-Code-Ansatz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802573" y="6357257"/>
            <a:ext cx="5473926" cy="1066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0" rtlCol="0" anchor="b"/>
          <a:lstStyle/>
          <a:p>
            <a:r>
              <a:rPr lang="de-CH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Offen durch </a:t>
            </a:r>
            <a:r>
              <a:rPr lang="de-CH" sz="3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Quadrel-Contribute</a:t>
            </a:r>
            <a:r>
              <a:rPr lang="de-CH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3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Repositories</a:t>
            </a:r>
            <a:endParaRPr lang="de-CH" sz="3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7676043" y="11734796"/>
            <a:ext cx="5480126" cy="16328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0" rIns="0" bIns="0" rtlCol="0" anchor="t"/>
          <a:lstStyle/>
          <a:p>
            <a:r>
              <a:rPr lang="de-CH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Optimale Wartbarkeit durch Zentralisierung des gesamten UI-Code und -Services</a:t>
            </a:r>
          </a:p>
        </p:txBody>
      </p:sp>
    </p:spTree>
    <p:extLst>
      <p:ext uri="{BB962C8B-B14F-4D97-AF65-F5344CB8AC3E}">
        <p14:creationId xmlns:p14="http://schemas.microsoft.com/office/powerpoint/2010/main" val="1177372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864</Words>
  <Application>Microsoft Office PowerPoint</Application>
  <PresentationFormat>Benutzerdefiniert</PresentationFormat>
  <Paragraphs>249</Paragraphs>
  <Slides>23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Christian Antonetti</dc:creator>
  <cp:lastModifiedBy>Antonetti Christian BAZG</cp:lastModifiedBy>
  <cp:revision>667</cp:revision>
  <dcterms:created xsi:type="dcterms:W3CDTF">2021-04-16T08:25:07Z</dcterms:created>
  <dcterms:modified xsi:type="dcterms:W3CDTF">2025-09-15T10:12:14Z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45c3252-146d-46f3-8062-82cd8c8d7e7d_Enabled">
    <vt:lpwstr>true</vt:lpwstr>
  </property>
  <property fmtid="{D5CDD505-2E9C-101B-9397-08002B2CF9AE}" pid="3" name="MSIP_Label_245c3252-146d-46f3-8062-82cd8c8d7e7d_SetDate">
    <vt:lpwstr>2025-09-15T08:56:38Z</vt:lpwstr>
  </property>
  <property fmtid="{D5CDD505-2E9C-101B-9397-08002B2CF9AE}" pid="4" name="MSIP_Label_245c3252-146d-46f3-8062-82cd8c8d7e7d_Method">
    <vt:lpwstr>Privileged</vt:lpwstr>
  </property>
  <property fmtid="{D5CDD505-2E9C-101B-9397-08002B2CF9AE}" pid="5" name="MSIP_Label_245c3252-146d-46f3-8062-82cd8c8d7e7d_Name">
    <vt:lpwstr>L1</vt:lpwstr>
  </property>
  <property fmtid="{D5CDD505-2E9C-101B-9397-08002B2CF9AE}" pid="6" name="MSIP_Label_245c3252-146d-46f3-8062-82cd8c8d7e7d_SiteId">
    <vt:lpwstr>6ae27add-8276-4a38-88c1-3a9c1f973767</vt:lpwstr>
  </property>
  <property fmtid="{D5CDD505-2E9C-101B-9397-08002B2CF9AE}" pid="7" name="MSIP_Label_245c3252-146d-46f3-8062-82cd8c8d7e7d_ActionId">
    <vt:lpwstr>ddaef954-a78a-400c-a87a-431cbd23fd3e</vt:lpwstr>
  </property>
  <property fmtid="{D5CDD505-2E9C-101B-9397-08002B2CF9AE}" pid="8" name="MSIP_Label_245c3252-146d-46f3-8062-82cd8c8d7e7d_ContentBits">
    <vt:lpwstr>0</vt:lpwstr>
  </property>
  <property fmtid="{D5CDD505-2E9C-101B-9397-08002B2CF9AE}" pid="9" name="MSIP_Label_245c3252-146d-46f3-8062-82cd8c8d7e7d_Tag">
    <vt:lpwstr>10, 0, 1, 1</vt:lpwstr>
  </property>
</Properties>
</file>